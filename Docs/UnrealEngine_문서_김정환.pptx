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95" r:id="rId6"/>
    <p:sldId id="296" r:id="rId7"/>
    <p:sldId id="286" r:id="rId8"/>
    <p:sldId id="288" r:id="rId9"/>
    <p:sldId id="298" r:id="rId10"/>
    <p:sldId id="299" r:id="rId11"/>
    <p:sldId id="287" r:id="rId12"/>
    <p:sldId id="300" r:id="rId13"/>
    <p:sldId id="297" r:id="rId14"/>
    <p:sldId id="291" r:id="rId15"/>
    <p:sldId id="301" r:id="rId16"/>
    <p:sldId id="289" r:id="rId17"/>
    <p:sldId id="272" r:id="rId18"/>
    <p:sldId id="292" r:id="rId19"/>
    <p:sldId id="290" r:id="rId20"/>
    <p:sldId id="302" r:id="rId21"/>
    <p:sldId id="293" r:id="rId22"/>
    <p:sldId id="294" r:id="rId23"/>
    <p:sldId id="265" r:id="rId24"/>
    <p:sldId id="276" r:id="rId25"/>
    <p:sldId id="28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83488" autoAdjust="0"/>
  </p:normalViewPr>
  <p:slideViewPr>
    <p:cSldViewPr snapToGrid="0" showGuides="1">
      <p:cViewPr varScale="1">
        <p:scale>
          <a:sx n="96" d="100"/>
          <a:sy n="96" d="100"/>
        </p:scale>
        <p:origin x="1098" y="8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0C216-7AC4-482D-A25B-339B4E373C44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B0AFA-6D7F-4C31-A334-420C28DC40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3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객체지향 기본기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이벤트 활용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엔진 기능 활용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프로젝트 소개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- </a:t>
            </a:r>
            <a:r>
              <a:rPr lang="ko-KR" altLang="en-US" dirty="0" smtClean="0"/>
              <a:t>프로젝트 진행하면서 구현하고자 했던 의도를 여기서 언급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핵심기능</a:t>
            </a:r>
            <a:endParaRPr lang="en-US" altLang="ko-KR" dirty="0" smtClean="0"/>
          </a:p>
          <a:p>
            <a:pPr marL="228600" indent="-228600">
              <a:buFontTx/>
              <a:buAutoNum type="arabicPeriod"/>
            </a:pPr>
            <a:r>
              <a:rPr lang="ko-KR" altLang="en-US" baseline="0" dirty="0" smtClean="0"/>
              <a:t>플레이어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- </a:t>
            </a:r>
            <a:r>
              <a:rPr lang="ko-KR" altLang="en-US" baseline="0" dirty="0" smtClean="0"/>
              <a:t>플레이어 조작 </a:t>
            </a:r>
            <a:r>
              <a:rPr lang="en-US" altLang="ko-KR" baseline="0" dirty="0" smtClean="0"/>
              <a:t>- </a:t>
            </a:r>
            <a:r>
              <a:rPr lang="ko-KR" altLang="en-US" baseline="0" dirty="0" smtClean="0"/>
              <a:t>컨트롤러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- </a:t>
            </a:r>
            <a:r>
              <a:rPr lang="ko-KR" altLang="en-US" baseline="0" dirty="0" smtClean="0"/>
              <a:t>플레이어 액션 구성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ko-KR" altLang="en-US" dirty="0" err="1" smtClean="0"/>
              <a:t>콤보</a:t>
            </a:r>
            <a:r>
              <a:rPr lang="ko-KR" altLang="en-US" dirty="0" smtClean="0"/>
              <a:t> 연결</a:t>
            </a:r>
            <a:endParaRPr lang="en-US" altLang="ko-KR" dirty="0" smtClean="0"/>
          </a:p>
          <a:p>
            <a:pPr marL="628650" marR="0" lvl="1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/>
              <a:t>스킬 기능</a:t>
            </a:r>
            <a:endParaRPr lang="en-US" altLang="ko-KR" dirty="0" smtClean="0"/>
          </a:p>
          <a:p>
            <a:pPr marL="628650" marR="0" lvl="1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err="1" smtClean="0"/>
              <a:t>스탯</a:t>
            </a:r>
            <a:r>
              <a:rPr lang="ko-KR" altLang="en-US" dirty="0" smtClean="0"/>
              <a:t> 기능</a:t>
            </a:r>
            <a:endParaRPr lang="en-US" altLang="ko-KR" dirty="0" smtClean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dirty="0" smtClean="0"/>
              <a:t>상호작용 및 타격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인터페이스</a:t>
            </a:r>
            <a:r>
              <a:rPr lang="en-US" altLang="ko-KR" dirty="0" smtClean="0"/>
              <a:t>)</a:t>
            </a:r>
          </a:p>
          <a:p>
            <a:pPr marL="628650" marR="0" lvl="1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dirty="0" smtClean="0"/>
              <a:t>Trace</a:t>
            </a:r>
            <a:r>
              <a:rPr lang="ko-KR" altLang="en-US" dirty="0" smtClean="0"/>
              <a:t>를 이용한 탐지 및 사용</a:t>
            </a:r>
            <a:endParaRPr lang="en-US" altLang="ko-KR" dirty="0" smtClean="0"/>
          </a:p>
          <a:p>
            <a:pPr marL="0" indent="0">
              <a:buFontTx/>
              <a:buNone/>
            </a:pPr>
            <a:r>
              <a:rPr lang="en-US" altLang="ko-KR" dirty="0" smtClean="0"/>
              <a:t>2.</a:t>
            </a:r>
            <a:r>
              <a:rPr lang="en-US" altLang="ko-KR" baseline="0" dirty="0" smtClean="0"/>
              <a:t> </a:t>
            </a:r>
            <a:r>
              <a:rPr lang="ko-KR" altLang="en-US" baseline="0" dirty="0" err="1" smtClean="0"/>
              <a:t>몬스터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err="1" smtClean="0"/>
              <a:t>몬스터</a:t>
            </a:r>
            <a:r>
              <a:rPr lang="ko-KR" altLang="en-US" baseline="0" dirty="0" smtClean="0"/>
              <a:t> 구성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보스 </a:t>
            </a:r>
            <a:r>
              <a:rPr lang="ko-KR" altLang="en-US" baseline="0" dirty="0" err="1" smtClean="0"/>
              <a:t>몬스터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en-US" altLang="ko-KR" baseline="0" dirty="0" smtClean="0"/>
              <a:t>AI BT</a:t>
            </a:r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BT Task, Service, Decorator</a:t>
            </a:r>
          </a:p>
          <a:p>
            <a:pPr marL="628650" lvl="1" indent="-171450">
              <a:buFontTx/>
              <a:buChar char="-"/>
            </a:pPr>
            <a:r>
              <a:rPr lang="ko-KR" altLang="en-US" baseline="0" dirty="0" err="1" smtClean="0"/>
              <a:t>몬스터</a:t>
            </a:r>
            <a:r>
              <a:rPr lang="ko-KR" altLang="en-US" baseline="0" dirty="0" smtClean="0"/>
              <a:t> 액션 세부 동작을 위한 </a:t>
            </a:r>
            <a:r>
              <a:rPr lang="en-US" altLang="ko-KR" baseline="0" dirty="0" err="1" smtClean="0"/>
              <a:t>AnimNotify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AnimNotifyState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3. </a:t>
            </a:r>
            <a:r>
              <a:rPr lang="ko-KR" altLang="en-US" baseline="0" dirty="0" smtClean="0"/>
              <a:t>스테이지 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게임 진행</a:t>
            </a:r>
            <a:r>
              <a:rPr lang="en-US" altLang="ko-KR" baseline="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스테이지 섹션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ko-KR" altLang="en-US" baseline="0" dirty="0" smtClean="0"/>
              <a:t>연출용 </a:t>
            </a:r>
            <a:r>
              <a:rPr lang="ko-KR" altLang="en-US" baseline="0" dirty="0" err="1" smtClean="0"/>
              <a:t>컷씬</a:t>
            </a:r>
            <a:r>
              <a:rPr lang="ko-KR" altLang="en-US" baseline="0" dirty="0" smtClean="0"/>
              <a:t> 섹션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en-US" altLang="ko-KR" baseline="0" dirty="0" err="1" smtClean="0"/>
              <a:t>CombatGameMode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CombatGameState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활용 이벤트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4. </a:t>
            </a:r>
            <a:r>
              <a:rPr lang="ko-KR" altLang="en-US" baseline="0" dirty="0" smtClean="0"/>
              <a:t>아이템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아이템 활용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장비 아이템 활용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제작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강화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계승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5. </a:t>
            </a:r>
            <a:r>
              <a:rPr lang="ko-KR" altLang="en-US" baseline="0" dirty="0" smtClean="0"/>
              <a:t>기타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UI</a:t>
            </a:r>
          </a:p>
          <a:p>
            <a:pPr marL="171450" indent="-171450">
              <a:buFontTx/>
              <a:buChar char="-"/>
            </a:pPr>
            <a:r>
              <a:rPr lang="en-US" altLang="ko-KR" baseline="0" dirty="0" err="1" smtClean="0"/>
              <a:t>UserWidget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상속으로 구성 및</a:t>
            </a:r>
            <a:r>
              <a:rPr lang="en-US" altLang="ko-KR" baseline="0" dirty="0" smtClean="0"/>
              <a:t> </a:t>
            </a:r>
            <a:r>
              <a:rPr lang="en-US" altLang="ko-KR" baseline="0" dirty="0" err="1" smtClean="0"/>
              <a:t>UWPopUp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클래스 사용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en-US" altLang="ko-KR" baseline="0" dirty="0" smtClean="0"/>
              <a:t>HUD </a:t>
            </a:r>
            <a:r>
              <a:rPr lang="ko-KR" altLang="en-US" baseline="0" dirty="0" smtClean="0"/>
              <a:t>용도와 </a:t>
            </a:r>
            <a:r>
              <a:rPr lang="en-US" altLang="ko-KR" baseline="0" dirty="0" err="1" smtClean="0"/>
              <a:t>PopUp</a:t>
            </a:r>
            <a:r>
              <a:rPr lang="ko-KR" altLang="en-US" baseline="0" dirty="0" smtClean="0"/>
              <a:t>용도 구분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en-US" altLang="ko-KR" baseline="0" dirty="0" smtClean="0"/>
              <a:t>PCG</a:t>
            </a:r>
          </a:p>
          <a:p>
            <a:pPr marL="0" indent="0">
              <a:buFontTx/>
              <a:buNone/>
            </a:pPr>
            <a:r>
              <a:rPr lang="en-US" altLang="ko-KR" baseline="0" dirty="0" smtClean="0"/>
              <a:t>- PCG </a:t>
            </a:r>
            <a:r>
              <a:rPr lang="ko-KR" altLang="en-US" baseline="0" dirty="0" smtClean="0"/>
              <a:t>활용한 레벨 오브젝트 배치</a:t>
            </a:r>
            <a:endParaRPr lang="en-US" altLang="ko-KR" baseline="0" dirty="0" smtClean="0"/>
          </a:p>
          <a:p>
            <a:pPr marL="0" indent="0">
              <a:buFontTx/>
              <a:buNone/>
            </a:pP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ko-KR" altLang="en-US" baseline="0" dirty="0" smtClean="0"/>
              <a:t>트러블슈팅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err="1" smtClean="0"/>
              <a:t>랜드스케이프</a:t>
            </a:r>
            <a:r>
              <a:rPr lang="ko-KR" altLang="en-US" baseline="0" dirty="0" smtClean="0"/>
              <a:t> 적용 후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액터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스폰</a:t>
            </a:r>
            <a:r>
              <a:rPr lang="ko-KR" altLang="en-US" baseline="0" dirty="0" smtClean="0"/>
              <a:t> 문제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레벨 시퀀스 사용 시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빌드</a:t>
            </a:r>
            <a:r>
              <a:rPr lang="ko-KR" altLang="en-US" baseline="0" dirty="0" smtClean="0"/>
              <a:t> 에러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endParaRPr lang="en-US" altLang="ko-KR" baseline="0" dirty="0" smtClean="0"/>
          </a:p>
          <a:p>
            <a:pPr marL="0" indent="0">
              <a:buFontTx/>
              <a:buNone/>
            </a:pPr>
            <a:r>
              <a:rPr lang="ko-KR" altLang="en-US" baseline="0" dirty="0" smtClean="0"/>
              <a:t>보완점 및 </a:t>
            </a:r>
            <a:r>
              <a:rPr lang="ko-KR" altLang="en-US" baseline="0" dirty="0" err="1" smtClean="0"/>
              <a:t>반성점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en-US" altLang="ko-KR" baseline="0" dirty="0" smtClean="0"/>
              <a:t>GAS </a:t>
            </a:r>
            <a:r>
              <a:rPr lang="ko-KR" altLang="en-US" baseline="0" dirty="0" smtClean="0"/>
              <a:t>기능 활용</a:t>
            </a:r>
            <a:endParaRPr lang="en-US" altLang="ko-KR" baseline="0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데이터 구성 시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DataTable</a:t>
            </a:r>
            <a:r>
              <a:rPr lang="ko-KR" altLang="en-US" baseline="0" dirty="0" smtClean="0"/>
              <a:t>과 </a:t>
            </a:r>
            <a:r>
              <a:rPr lang="en-US" altLang="ko-KR" baseline="0" dirty="0" err="1" smtClean="0"/>
              <a:t>DataAsset</a:t>
            </a:r>
            <a:r>
              <a:rPr lang="ko-KR" altLang="en-US" baseline="0" dirty="0" smtClean="0"/>
              <a:t> 사용 구분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25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액션 </a:t>
            </a:r>
            <a:r>
              <a:rPr lang="en-US" altLang="ko-KR" dirty="0" smtClean="0"/>
              <a:t>RPG </a:t>
            </a:r>
            <a:r>
              <a:rPr lang="ko-KR" altLang="en-US" dirty="0" smtClean="0"/>
              <a:t>장르</a:t>
            </a:r>
            <a:endParaRPr lang="en-US" altLang="ko-KR" dirty="0" smtClean="0"/>
          </a:p>
          <a:p>
            <a:r>
              <a:rPr lang="ko-KR" altLang="en-US" dirty="0" smtClean="0"/>
              <a:t>먼 미래 모종의 이유로 기존</a:t>
            </a:r>
            <a:r>
              <a:rPr lang="ko-KR" altLang="en-US" baseline="0" dirty="0" smtClean="0"/>
              <a:t> 문명이 멸망한 포스트 </a:t>
            </a:r>
            <a:r>
              <a:rPr lang="ko-KR" altLang="en-US" baseline="0" dirty="0" err="1" smtClean="0"/>
              <a:t>아포칼립스</a:t>
            </a:r>
            <a:r>
              <a:rPr lang="ko-KR" altLang="en-US" baseline="0" dirty="0" smtClean="0"/>
              <a:t> 세계관에서</a:t>
            </a:r>
            <a:endParaRPr lang="en-US" altLang="ko-KR" baseline="0" dirty="0" smtClean="0"/>
          </a:p>
          <a:p>
            <a:r>
              <a:rPr lang="ko-KR" altLang="en-US" baseline="0" dirty="0" smtClean="0"/>
              <a:t>생존을 위해 폐허를 떠돌며 자원을 수집해나가는 액션 </a:t>
            </a:r>
            <a:r>
              <a:rPr lang="en-US" altLang="ko-KR" baseline="0" dirty="0" smtClean="0"/>
              <a:t>RPG </a:t>
            </a:r>
            <a:r>
              <a:rPr lang="ko-KR" altLang="en-US" baseline="0" dirty="0" smtClean="0"/>
              <a:t>게임입니다</a:t>
            </a:r>
            <a:r>
              <a:rPr lang="en-US" altLang="ko-KR" baseline="0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레퍼런스로</a:t>
            </a:r>
            <a:r>
              <a:rPr lang="ko-KR" altLang="en-US" dirty="0" smtClean="0"/>
              <a:t> 삼은 </a:t>
            </a:r>
            <a:r>
              <a:rPr lang="en-US" altLang="ko-KR" dirty="0" err="1" smtClean="0"/>
              <a:t>vindictus</a:t>
            </a:r>
            <a:r>
              <a:rPr lang="en-US" altLang="ko-KR" dirty="0" smtClean="0"/>
              <a:t> : defying fate</a:t>
            </a:r>
            <a:r>
              <a:rPr lang="ko-KR" altLang="en-US" baseline="0" dirty="0" smtClean="0"/>
              <a:t>가 표현한 </a:t>
            </a:r>
            <a:r>
              <a:rPr lang="ko-KR" altLang="en-US" baseline="0" dirty="0" err="1" smtClean="0"/>
              <a:t>콤보를</a:t>
            </a:r>
            <a:r>
              <a:rPr lang="ko-KR" altLang="en-US" baseline="0" dirty="0" smtClean="0"/>
              <a:t> 통한 스킬 </a:t>
            </a:r>
            <a:r>
              <a:rPr lang="ko-KR" altLang="en-US" baseline="0" dirty="0" err="1" smtClean="0"/>
              <a:t>조작감</a:t>
            </a:r>
            <a:endParaRPr lang="en-US" altLang="ko-KR" baseline="0" dirty="0" smtClean="0"/>
          </a:p>
          <a:p>
            <a:r>
              <a:rPr lang="ko-KR" altLang="en-US" baseline="0" dirty="0" smtClean="0"/>
              <a:t>광범위 공격을 이용한 </a:t>
            </a:r>
            <a:r>
              <a:rPr lang="ko-KR" altLang="en-US" baseline="0" dirty="0" err="1" smtClean="0"/>
              <a:t>핵앤슬래쉬</a:t>
            </a:r>
            <a:r>
              <a:rPr lang="ko-KR" altLang="en-US" baseline="0" dirty="0" smtClean="0"/>
              <a:t> 느낌의 표현</a:t>
            </a:r>
            <a:endParaRPr lang="en-US" altLang="ko-KR" baseline="0" dirty="0" smtClean="0"/>
          </a:p>
          <a:p>
            <a:r>
              <a:rPr lang="ko-KR" altLang="en-US" baseline="0" dirty="0" smtClean="0"/>
              <a:t>보스와 일대일 전투에선 보스의 패턴을 파훼하고 보스의 공격에 대응하는 기능 구현에 신경 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304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aseline="0" dirty="0" err="1" smtClean="0"/>
              <a:t>ARPGGameInstance</a:t>
            </a:r>
            <a:r>
              <a:rPr lang="en-US" altLang="ko-KR" baseline="0" dirty="0" smtClean="0"/>
              <a:t> </a:t>
            </a:r>
          </a:p>
          <a:p>
            <a:pPr marL="0" indent="0">
              <a:buNone/>
            </a:pPr>
            <a:r>
              <a:rPr lang="en-US" altLang="ko-KR" baseline="0" dirty="0" err="1" smtClean="0"/>
              <a:t>GameInstanceSubSystem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PlayerManager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Inventory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</a:p>
          <a:p>
            <a:pPr marL="2000250" marR="0" lvl="4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aseline="0" dirty="0" err="1" smtClean="0"/>
              <a:t>ConsumableItem</a:t>
            </a:r>
            <a:endParaRPr lang="en-US" altLang="ko-KR" baseline="0" dirty="0" smtClean="0"/>
          </a:p>
          <a:p>
            <a:pPr marL="2000250" lvl="4" indent="-171450">
              <a:buFontTx/>
              <a:buChar char="-"/>
            </a:pPr>
            <a:r>
              <a:rPr lang="en-US" altLang="ko-KR" baseline="0" dirty="0" err="1" smtClean="0"/>
              <a:t>EquipmentItem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err="1" smtClean="0"/>
              <a:t>ItemData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ItemConfig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Equipment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QuickSlot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SkillDevelop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DataManager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SaveLoadManager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ISaveLoadHandler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WorldSubSystem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ObjectPoolManager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ARPGGameMode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PlayerCharacter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Effect</a:t>
            </a:r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TermEffect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PeriodicEffect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EventEffect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EffectData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PlayerActionComponent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Action, </a:t>
            </a:r>
            <a:r>
              <a:rPr lang="en-US" altLang="ko-KR" baseline="0" dirty="0" err="1" smtClean="0"/>
              <a:t>AttackActonCombo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SkillUpgradeData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SkillTreeData</a:t>
            </a:r>
            <a:endParaRPr lang="en-US" altLang="ko-KR" baseline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 smtClean="0"/>
              <a:t>MonsterBase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RegularMonster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MonsterActionComponent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BossMonster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IGimicHandler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BossActionComponent</a:t>
            </a:r>
            <a:endParaRPr lang="en-US" altLang="ko-KR" baseline="0" dirty="0" smtClean="0"/>
          </a:p>
          <a:p>
            <a:pPr marL="457200" lvl="1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StageSection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StageCutSceneSection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smtClean="0"/>
              <a:t>ARPGHUD</a:t>
            </a:r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NonCombatHUD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CombatHUD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UserWidget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UWPopUp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smtClean="0"/>
              <a:t>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09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aseline="0" dirty="0" err="1" smtClean="0"/>
              <a:t>ARPGGameInstance</a:t>
            </a:r>
            <a:r>
              <a:rPr lang="en-US" altLang="ko-KR" baseline="0" dirty="0" smtClean="0"/>
              <a:t> </a:t>
            </a:r>
          </a:p>
          <a:p>
            <a:pPr marL="0" indent="0">
              <a:buNone/>
            </a:pPr>
            <a:r>
              <a:rPr lang="en-US" altLang="ko-KR" baseline="0" dirty="0" err="1" smtClean="0"/>
              <a:t>GameInstanceSubSystem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PlayerManager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Inventory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</a:p>
          <a:p>
            <a:pPr marL="2000250" marR="0" lvl="4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aseline="0" dirty="0" err="1" smtClean="0"/>
              <a:t>ConsumableItem</a:t>
            </a:r>
            <a:endParaRPr lang="en-US" altLang="ko-KR" baseline="0" dirty="0" smtClean="0"/>
          </a:p>
          <a:p>
            <a:pPr marL="2000250" lvl="4" indent="-171450">
              <a:buFontTx/>
              <a:buChar char="-"/>
            </a:pPr>
            <a:r>
              <a:rPr lang="en-US" altLang="ko-KR" baseline="0" dirty="0" err="1" smtClean="0"/>
              <a:t>EquipmentItem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err="1" smtClean="0"/>
              <a:t>ItemData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ItemConfig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Equipment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QuickSlot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SkillDevelop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DataManager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SaveLoadManager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ISaveLoadHandler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WorldSubSystem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ObjectPoolManager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ARPGGameMode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PlayerCharacter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Effect</a:t>
            </a:r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TermEffect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PeriodicEffect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EventEffect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EffectData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PlayerActionComponent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Action, </a:t>
            </a:r>
            <a:r>
              <a:rPr lang="en-US" altLang="ko-KR" baseline="0" dirty="0" err="1" smtClean="0"/>
              <a:t>AttackActonCombo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SkillUpgradeData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SkillTreeData</a:t>
            </a:r>
            <a:endParaRPr lang="en-US" altLang="ko-KR" baseline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 smtClean="0"/>
              <a:t>MonsterBase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RegularMonster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MonsterActionComponent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BossMonster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IGimicHandler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BossActionComponent</a:t>
            </a:r>
            <a:endParaRPr lang="en-US" altLang="ko-KR" baseline="0" dirty="0" smtClean="0"/>
          </a:p>
          <a:p>
            <a:pPr marL="457200" lvl="1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StageSection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StageCutSceneSection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smtClean="0"/>
              <a:t>ARPGHUD</a:t>
            </a:r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NonCombatHUD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CombatHUD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UserWidget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UWPopUp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smtClean="0"/>
              <a:t>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23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aseline="0" dirty="0" err="1" smtClean="0"/>
              <a:t>ARPGGameInstance</a:t>
            </a:r>
            <a:r>
              <a:rPr lang="en-US" altLang="ko-KR" baseline="0" dirty="0" smtClean="0"/>
              <a:t> </a:t>
            </a:r>
          </a:p>
          <a:p>
            <a:pPr marL="0" indent="0">
              <a:buNone/>
            </a:pPr>
            <a:r>
              <a:rPr lang="en-US" altLang="ko-KR" baseline="0" dirty="0" err="1" smtClean="0"/>
              <a:t>GameInstanceSubSystem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PlayerManager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Inventory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</a:p>
          <a:p>
            <a:pPr marL="2000250" marR="0" lvl="4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baseline="0" dirty="0" err="1" smtClean="0"/>
              <a:t>ConsumableItem</a:t>
            </a:r>
            <a:endParaRPr lang="en-US" altLang="ko-KR" baseline="0" dirty="0" smtClean="0"/>
          </a:p>
          <a:p>
            <a:pPr marL="2000250" lvl="4" indent="-171450">
              <a:buFontTx/>
              <a:buChar char="-"/>
            </a:pPr>
            <a:r>
              <a:rPr lang="en-US" altLang="ko-KR" baseline="0" dirty="0" err="1" smtClean="0"/>
              <a:t>EquipmentItem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err="1" smtClean="0"/>
              <a:t>ItemData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ItemConfig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smtClean="0"/>
              <a:t>Equipment</a:t>
            </a:r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QuickSlot</a:t>
            </a:r>
            <a:endParaRPr lang="en-US" altLang="ko-KR" baseline="0" dirty="0" smtClean="0"/>
          </a:p>
          <a:p>
            <a:pPr marL="1543050" lvl="3" indent="-171450">
              <a:buFontTx/>
              <a:buChar char="-"/>
            </a:pPr>
            <a:r>
              <a:rPr lang="en-US" altLang="ko-KR" baseline="0" dirty="0" smtClean="0"/>
              <a:t>Item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약참조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SkillDevelop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DataManager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SaveLoadManager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ISaveLoadHandler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WorldSubSystem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ObjectPoolManager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ARPGGameMode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CombatMode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PlayerCharacter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Effect</a:t>
            </a:r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TermEffect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PeriodicEffect</a:t>
            </a:r>
            <a:endParaRPr lang="en-US" altLang="ko-KR" baseline="0" dirty="0" smtClean="0"/>
          </a:p>
          <a:p>
            <a:pPr marL="1085850" lvl="2" indent="-171450">
              <a:buFontTx/>
              <a:buChar char="-"/>
            </a:pPr>
            <a:r>
              <a:rPr lang="en-US" altLang="ko-KR" baseline="0" dirty="0" err="1" smtClean="0"/>
              <a:t>EventEffect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EffectData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PlayerActionComponent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smtClean="0"/>
              <a:t>Action, </a:t>
            </a:r>
            <a:r>
              <a:rPr lang="en-US" altLang="ko-KR" baseline="0" dirty="0" err="1" smtClean="0"/>
              <a:t>AttackActonCombo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SkillUpgradeData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SkillTreeData</a:t>
            </a:r>
            <a:endParaRPr lang="en-US" altLang="ko-KR" baseline="0" dirty="0" smtClean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 smtClean="0"/>
              <a:t>MonsterBase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IHitable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IAttackNotifyHandler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IEffectable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StatComponent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RegularMonster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MonsterActionComponent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BossMonster</a:t>
            </a:r>
            <a:r>
              <a:rPr lang="en-US" altLang="ko-KR" baseline="0" dirty="0" smtClean="0"/>
              <a:t> : </a:t>
            </a:r>
            <a:r>
              <a:rPr lang="en-US" altLang="ko-KR" baseline="0" dirty="0" err="1" smtClean="0"/>
              <a:t>IGimicHandler</a:t>
            </a:r>
            <a:endParaRPr lang="en-US" altLang="ko-KR" baseline="0" dirty="0" smtClean="0"/>
          </a:p>
          <a:p>
            <a:pPr marL="628650" lvl="1" indent="-171450">
              <a:buFontTx/>
              <a:buChar char="-"/>
            </a:pPr>
            <a:r>
              <a:rPr lang="en-US" altLang="ko-KR" baseline="0" dirty="0" err="1" smtClean="0"/>
              <a:t>BossActionComponent</a:t>
            </a:r>
            <a:endParaRPr lang="en-US" altLang="ko-KR" baseline="0" dirty="0" smtClean="0"/>
          </a:p>
          <a:p>
            <a:pPr marL="457200" lvl="1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StageSection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StageCutSceneSection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smtClean="0"/>
              <a:t>ARPGHUD</a:t>
            </a:r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NonCombatHUD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CombatHUD</a:t>
            </a:r>
            <a:endParaRPr lang="en-US" altLang="ko-KR" baseline="0" dirty="0" smtClean="0"/>
          </a:p>
          <a:p>
            <a:pPr marL="0" lvl="0" indent="0">
              <a:buFontTx/>
              <a:buNone/>
            </a:pPr>
            <a:r>
              <a:rPr lang="en-US" altLang="ko-KR" baseline="0" dirty="0" err="1" smtClean="0"/>
              <a:t>UserWidget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err="1" smtClean="0"/>
              <a:t>UWPopUp</a:t>
            </a:r>
            <a:endParaRPr lang="en-US" altLang="ko-KR" baseline="0" dirty="0" smtClean="0"/>
          </a:p>
          <a:p>
            <a:pPr marL="171450" lvl="0" indent="-171450">
              <a:buFontTx/>
              <a:buChar char="-"/>
            </a:pPr>
            <a:r>
              <a:rPr lang="en-US" altLang="ko-KR" baseline="0" dirty="0" smtClean="0"/>
              <a:t>…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45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922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공격력 등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반영하여 플레이어 캐릭터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반영하는 컴포넌트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기본 캐릭터의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장비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효과로 얻은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관리하여 종합적으로 계산한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받을 수 있음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게이지와 같은 자원의 성격을 가진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이벤트 제공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UEffect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등의 효과를 거는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필요한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기능을 살펴보니 거의 대부분이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영향을 준다는 공통적을 발견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그에 따라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효과를 등록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해제하고 관리하는 기능을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단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이때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외부에서 직접 접근하기엔 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액터들에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의존성이 발생할 것을 고려하여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IEffectHandler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ApplyEffect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작성하도록 함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Activate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사용해서 구현한 효과 작동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TermEffect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 유지되어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PeriodicalEffect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주기마다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EventEffect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특정한 조건을 만족할 때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피격 시 발동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65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공격력 등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반영하여 플레이어 캐릭터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반영하는 컴포넌트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기본 캐릭터의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장비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효과로 얻은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관리하여 종합적으로 계산한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받을 수 있음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게이지와 같은 자원의 성격을 가진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이벤트 제공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UEffect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등의 효과를 거는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필요한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기능을 살펴보니 거의 대부분이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영향을 준다는 공통적을 발견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그에 따라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효과를 등록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해제하고 관리하는 기능을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단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이때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외부에서 직접 접근하기엔 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액터들에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의존성이 발생할 것을 고려하여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IEffectHandler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ApplyEffect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작성하도록 함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Activate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사용해서 구현한 효과 작동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TermEffect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 유지되어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PeriodicalEffect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주기마다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EventEffect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특정한 조건을 만족할 때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피격 시 발동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14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공격력 등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반영하여 플레이어 캐릭터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반영하는 컴포넌트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기본 캐릭터의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장비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효과로 얻은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관리하여 종합적으로 계산한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받을 수 있음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게이지와 같은 자원의 성격을 가진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이벤트 제공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UEffect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등의 효과를 거는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필요한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기능을 살펴보니 거의 대부분이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영향을 준다는 공통적을 발견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그에 따라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효과를 등록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해제하고 관리하는 기능을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단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이때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외부에서 직접 접근하기엔 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액터들에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대한 의존성이 발생할 것을 고려하여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IEffectHandler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ApplyEffect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작성하도록 함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Activate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사용해서 구현한 효과 작동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TermEffect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 유지되어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PeriodicalEffect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주기마다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EventEffect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특정한 조건을 만족할 때 효과를 부여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피격 시 발동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117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액션 컴포넌트 역할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AnimMontage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AnimNotify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이용한 액션 구성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UActionComboData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그래프 형태로 이어 연계 동작을 설정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UPlayerActionComponent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공격 입력에 따라 설정한 그래프의 연결을 따라 액션을 수행하도록 작동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87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액션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데이터를 이용하여 공격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AnimNotify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상속한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사용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멤버 변수로 특정 인덱스를 부여하여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액션에서도 특정 동작에 대한 타격 범위나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데미지를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세분화하여 설정하도록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뿐만 아니라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사용하는 등 타 클래스간의 의존성에 대한 고려가 필요했음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IAttackNotifyHandler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사용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HandleAttackNotify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구현하도록 하여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몽타주 재생 중 정확한 시점의 타격 및 세분화된 공격 동작을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액션의 진행 중 발생하는 이벤트에 따라 지정한 효과를 얻거나 대상에게 부여할 수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pPr marL="628650" lvl="1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484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액션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데이터를 이용하여 공격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AnimNotify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상속한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사용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멤버 변수로 특정 인덱스를 부여하여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액션에서도 특정 동작에 대한 타격 범위나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데미지를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세분화하여 설정하도록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뿐만 아니라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사용하는 등 타 클래스간의 의존성에 대한 고려가 필요했음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IAttackNotifyHandler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사용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HandleAttackNotify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구현하도록 하여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몽타주 재생 중 정확한 시점의 타격 및 세분화된 공격 동작을 구현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324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USkillUpgrade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성장시킬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내용을 나타내는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DataAsset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AdjustSkillNode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통해서 플레이어의 액션 그래프에 스킬 성장 반영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USkillNodeUnlockAction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액션의 후속 액션을 해금하는 기능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액션이 기존에 가진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수치를 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USkillNodeExtendEffect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액션에 새로운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추가하는 기능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USkillNodeModifySpec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데미지량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소모량 등을 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적용은 플레이어의 선택에 따라 동적이기 때문에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UPlayerActionComponent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한 차례 감싼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UActionInstance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클래스로 사용하고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USkillTreeData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강화 가능하도록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USkillUpgrade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트리 형태로 구성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계열의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스킬노드를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선택해야 자식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노드로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넘어가게끔 구현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625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USkillUpgrade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성장시킬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내용을 나타내는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DataAsset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AdjustSkillNode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메서드를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통해서 플레이어의 액션 그래프에 스킬 성장 반영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USkillNodeUnlockAction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액션의 후속 액션을 해금하는 기능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액션이 기존에 가진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수치를 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USkillNodeExtendEffect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액션에 새로운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추가하는 기능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USkillNodeModifySpec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데미지량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소모량 등을 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적용은 플레이어의 선택에 따라 동적이기 때문에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UPlayerActionComponent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한 차례 감싼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UActionInstance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클래스로 사용하고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USkillTreeData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강화 가능하도록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USkillUpgrade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트리 형태로 구성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계열의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스킬노드를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선택해야 자식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노드로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넘어가게끔 구현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798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데이터 관리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구성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컴포넌트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액션 컴포넌트와 액션 처리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반영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ko-KR" dirty="0" smtClean="0"/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기능 설명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기능에 따라 필요한 클래스 명시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클래스 역할 기입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271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ko-KR" altLang="en-US" dirty="0" err="1" smtClean="0"/>
              <a:t>몬스터</a:t>
            </a:r>
            <a:r>
              <a:rPr lang="ko-KR" altLang="en-US" dirty="0" smtClean="0"/>
              <a:t> 종류</a:t>
            </a:r>
            <a:endParaRPr lang="en-US" altLang="ko-KR" dirty="0" smtClean="0"/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853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ko-KR" altLang="en-US" dirty="0" err="1" smtClean="0"/>
              <a:t>몬스터</a:t>
            </a:r>
            <a:r>
              <a:rPr lang="ko-KR" altLang="en-US" dirty="0" smtClean="0"/>
              <a:t> 종류</a:t>
            </a:r>
            <a:endParaRPr lang="en-US" altLang="ko-KR" dirty="0" smtClean="0"/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356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BT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상태일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랜덤한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곳을 돌아다니며 탐색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FindPlayer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이용하여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 주변을 탐색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발견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상태로 전환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플레이어와의 거리를 확인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공격이 불가한 거리라면 추적하며 원거리 공격을 수행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공격이 가능하면 일반 공격 중 랜덤으로 한 개 수행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만약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포인트가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10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이상 모여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행동이 가능하다면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수행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529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BT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상태일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랜덤한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곳을 돌아다니며 탐색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FindPlayer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이용하여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 주변을 탐색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발견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상태로 전환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628650" lvl="1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플레이어와의 거리를 확인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공격이 불가한 거리라면 추적하며 원거리 공격을 수행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공격이 가능하면 일반 공격 중 랜덤으로 한 개 수행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085850" lvl="2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만약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포인트가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10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이상 모여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행동이 가능하다면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수행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4611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ko-KR" altLang="en-US" dirty="0" err="1" smtClean="0"/>
              <a:t>몬스터</a:t>
            </a:r>
            <a:r>
              <a:rPr lang="ko-KR" altLang="en-US" dirty="0" smtClean="0"/>
              <a:t> 종류</a:t>
            </a:r>
            <a:endParaRPr lang="en-US" altLang="ko-KR" dirty="0" smtClean="0"/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848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ko-KR" altLang="en-US" dirty="0" err="1" smtClean="0"/>
              <a:t>몬스터</a:t>
            </a:r>
            <a:r>
              <a:rPr lang="ko-KR" altLang="en-US" dirty="0" smtClean="0"/>
              <a:t> 종류</a:t>
            </a:r>
            <a:endParaRPr lang="en-US" altLang="ko-KR" dirty="0" smtClean="0"/>
          </a:p>
          <a:p>
            <a:pPr marL="0" lvl="0" indent="0">
              <a:buFont typeface="Arial" panose="020B0604020202020204" pitchFamily="34" charset="0"/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6367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원인 분석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액터를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nullptr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반환으로 인한 에러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기존 테스트에 쓰던 레벨에선 발생하지 않는 것을 확인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새로 작업 중인 레벨과의 차이점이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 여부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기존 테스트 레벨에서 바닥은 넓은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큐브를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스케이프는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일반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스태틱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메쉬와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달리 충돌 설정과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Z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축 높이 문제가 있었음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스케이프와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충돌하며 실패 처리되어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nullptr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반환된 것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71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498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dirty="0" smtClean="0">
              <a:solidFill>
                <a:schemeClr val="bg1"/>
              </a:solidFill>
              <a:latin typeface="Noto Sans KR Light" panose="020B0200000000000000" pitchFamily="34" charset="-128"/>
              <a:ea typeface="Noto Sans KR Light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9A276-DDEF-4E56-B152-12AB79E03CC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38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6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5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31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64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41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5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5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46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66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87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68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6477C-5364-4FAF-AB24-F59E083ADCD2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05A5-2629-49A0-9858-35F1EC9787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0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17406" y="2736502"/>
            <a:ext cx="375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Unreal Engine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포트폴리오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74198" y="3105834"/>
            <a:ext cx="484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>
                <a:solidFill>
                  <a:schemeClr val="bg1">
                    <a:lumMod val="95000"/>
                  </a:schemeClr>
                </a:solidFill>
                <a:latin typeface="Open Sans ExtraBold"/>
                <a:ea typeface="Noto Sans KR ExtraBold" panose="020B0200000000000000" pitchFamily="34" charset="-128"/>
              </a:rPr>
              <a:t>SCAVENGER'S EDGE</a:t>
            </a:r>
            <a:endParaRPr lang="ko-KR" altLang="en-US" sz="3600" b="1" dirty="0">
              <a:solidFill>
                <a:schemeClr val="bg1">
                  <a:lumMod val="95000"/>
                </a:schemeClr>
              </a:solidFill>
              <a:latin typeface="Open Sans ExtraBold"/>
              <a:ea typeface="Noto Sans KR ExtraBold" panose="020B02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7406" y="3779324"/>
            <a:ext cx="375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김정환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201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5352" y="3198166"/>
            <a:ext cx="1531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  <a:cs typeface="Open Sans ExtraBold" pitchFamily="2" charset="0"/>
              </a:rPr>
              <a:t>목차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  <a:cs typeface="Open Sans ExtraBold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0384" y="2172757"/>
            <a:ext cx="248238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 소개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프로젝트 구조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핵심기능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트러블슈팅</a:t>
            </a: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보완점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및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반성점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735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0000" y="4665332"/>
            <a:ext cx="5155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>
                    <a:lumMod val="95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SCAVENGER'S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250107"/>
            <a:ext cx="4347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장르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RPG</a:t>
            </a: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작업기간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65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(26.01.14~26.03.20)</a:t>
            </a: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개발인원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툴 및 언어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Visual Studio C++, Unreal Engine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665332"/>
            <a:ext cx="55560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먼 미래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모종의 이유로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모든 문명이 멸망한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포스트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아포칼립스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세계관에서</a:t>
            </a: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위험한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폐허를 떠돌며 자원을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수집해나가는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RPG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빈딕투스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디파인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페이트를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레퍼런스로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프로젝트를 진행하며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콤보를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통한 공격과 스킬 사용을 중점으로 작업했습니다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그저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콤보를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난타하는 것이 아니라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상황에 따라 전략적으로 액션을 취할 수 있도록 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액션을 통한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부여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기능과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시스템을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 소개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40000" y="1032837"/>
            <a:ext cx="11112000" cy="33042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5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프로젝트 구조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44751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주요 클래스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4751" y="1234126"/>
            <a:ext cx="60069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게임에서 전역적으로 사용하는 매니저 클래스들의 구성입니다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2003566"/>
            <a:ext cx="11112000" cy="344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5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프로젝트 구조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44751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주요 클래스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4751" y="1234126"/>
            <a:ext cx="60069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게임 진행에 관련된 클래스의 구성입니다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777308"/>
            <a:ext cx="11112001" cy="398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7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프로젝트 구조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44751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주요 클래스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4751" y="1234126"/>
            <a:ext cx="600691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전투 진행에 관련된 클래스들의 구성입니다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566" y="1870362"/>
            <a:ext cx="9610867" cy="40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조작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Enhanced Input System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이용하여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이동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회피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상호작용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단축키 입력 기능을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PlayerController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세분화하여 레벨의 성격에 따라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필요한 입력을 받을 수 있도록 작업했습니다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13840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PlayerController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585735" y="319553"/>
            <a:ext cx="5106256" cy="1829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컨트롤러 바인딩 코드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40000" y="4364074"/>
            <a:ext cx="2501151" cy="1944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585735" y="2477918"/>
            <a:ext cx="5106256" cy="3830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463646" y="4364074"/>
            <a:ext cx="2632353" cy="1944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234380" y="4117853"/>
            <a:ext cx="11888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전투 지역 입력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19801" y="4117852"/>
            <a:ext cx="11888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비전투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지역 입력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1480" y="2730876"/>
            <a:ext cx="5554519" cy="1193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850277" y="3229987"/>
            <a:ext cx="266007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PlayerController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Class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상속 구조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632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2802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기능 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: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스탯과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효과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공격력 같은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관리하는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컴포넌트입니다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캐릭터가 가진 기본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스택뿐만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아니라 장비와 효과로 얻은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반영할 수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체력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게이지과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같은 요소는 일종의 자원으로 처리합니다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자원 요소들은 값 변동과 고갈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이벤트를 발행하여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UI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연동하는 등의 용도로 사용했습니다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자원 중에서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스킬 게이지는 캐릭터의 액션과 함께 사용됩니다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스태미너는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액션을 중이지 않다면 천천히 회복되고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모든 액션은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소모하여 작동합니다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 중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되면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5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초간 천천히 걸으며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회복되지 않는 페널티 기능을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게이지는 전투 중 획득 가능하고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액션에 부여된 효과가 스킬 게이지를 소모하여 발동합니다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UStatComponent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40000" y="3390472"/>
            <a:ext cx="2669069" cy="2948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캐릭터 정비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3359649" y="3390472"/>
            <a:ext cx="2736351" cy="2948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전투 시</a:t>
            </a:r>
            <a:r>
              <a:rPr lang="en-US" altLang="ko-KR" dirty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캐릭터 </a:t>
            </a:r>
            <a:r>
              <a:rPr lang="ko-KR" altLang="en-US" dirty="0" err="1" smtClean="0"/>
              <a:t>체력바</a:t>
            </a:r>
            <a:r>
              <a:rPr lang="ko-KR" altLang="en-US" dirty="0" smtClean="0"/>
              <a:t>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666334" y="513837"/>
            <a:ext cx="5179769" cy="2061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스탯</a:t>
            </a:r>
            <a:r>
              <a:rPr lang="ko-KR" altLang="en-US" dirty="0"/>
              <a:t> </a:t>
            </a:r>
            <a:r>
              <a:rPr lang="ko-KR" altLang="en-US" dirty="0" smtClean="0"/>
              <a:t>관련 주요 코드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666333" y="2885455"/>
            <a:ext cx="5179769" cy="2004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스탯</a:t>
            </a:r>
            <a:r>
              <a:rPr lang="ko-KR" altLang="en-US" dirty="0" smtClean="0"/>
              <a:t> 구독 코드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666333" y="5067300"/>
            <a:ext cx="5179769" cy="1271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자원 </a:t>
            </a:r>
            <a:r>
              <a:rPr lang="ko-KR" altLang="en-US" dirty="0" err="1" smtClean="0"/>
              <a:t>스탯</a:t>
            </a:r>
            <a:r>
              <a:rPr lang="ko-KR" altLang="en-US" dirty="0" smtClean="0"/>
              <a:t> 사용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739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106765"/>
            <a:ext cx="565124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적용하는 효과 클래스입니다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 기능들이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스탯에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영향을 준다는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공통점에 착안하여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모든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효과를 등록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해제하고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관리하도록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외부에서 직접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접근하는 과정에서 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대한 의존성이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발생하지 않도록 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IEffectHandler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ApplyEffect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구현하도록 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그리고 새로운 효과를 추가하기 쉽도록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활용했습니다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상위 클래스의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Activate()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호출하면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클래스에서 재정의한 구체적인 효과가 실행되도록 구조를 잡았습니다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주요 하위 클래스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TermEffect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 유지되어 효과를 부여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동안 적용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PeriodicalEffect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일정 기간 동안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주기마다 효과를 부여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동안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 적용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EventEffect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액터가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특정한 조건을 만족할 때 효과를 부여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예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피격 시 발동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860544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UEffect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666334" y="1707802"/>
            <a:ext cx="5179769" cy="2545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스탯에서</a:t>
            </a:r>
            <a:r>
              <a:rPr lang="ko-KR" altLang="en-US" dirty="0" smtClean="0"/>
              <a:t> 등록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제거하는 코드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666333" y="433872"/>
            <a:ext cx="5179769" cy="1138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인터페이스 코드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40000" y="3753643"/>
            <a:ext cx="5565524" cy="268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이펙트</a:t>
            </a:r>
            <a:r>
              <a:rPr lang="ko-KR" altLang="en-US" dirty="0" smtClean="0"/>
              <a:t> 클래스 상속 구조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666333" y="4389357"/>
            <a:ext cx="5179769" cy="20449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이펙트</a:t>
            </a:r>
            <a:r>
              <a:rPr lang="ko-KR" altLang="en-US" dirty="0" smtClean="0"/>
              <a:t> 발동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발동 해제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288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106765"/>
            <a:ext cx="56512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효과 값을 설정해두기 위한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설정해둔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액션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에셋이나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아이템에 유연하게 할당할 수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특히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 무기의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컨셉에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맞게 동일한 유형의 효과를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에셋으로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모듈화하고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효과를 여러 액션에서 할당하여 재사용하는 방식으로 사용할 수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860544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UEffectData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66333" y="315047"/>
            <a:ext cx="5179769" cy="3437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액션 도중 적용하는 코드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666333" y="3865389"/>
            <a:ext cx="5179769" cy="2648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아이템 사용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적용하는 코드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40001" y="3865389"/>
            <a:ext cx="5565524" cy="1270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액션에서 사용하는 데이터 객체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540001" y="5248383"/>
            <a:ext cx="5565524" cy="1265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액션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아이템에서 사용하는 데이터 객체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40001" y="2270589"/>
            <a:ext cx="5565524" cy="1482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이펙트</a:t>
            </a:r>
            <a:r>
              <a:rPr lang="ko-KR" altLang="en-US" dirty="0" smtClean="0"/>
              <a:t> 데이터 객체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460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3278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기능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: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액션과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콤보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연계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회피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상호작용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등의 애니메이션을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처리하는 컴포넌트입니다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캐릭터의 여러 동작을 하나의 액션으로 모듈화하여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액션과 이어진 액션을 연계하는 기능을 개발했습니다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 실행에 필요한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소모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로직은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직접적인 참조를 피하기 위해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델리게이트로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처리했습니다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APlayerCharacter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TryUseStamina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바인딩 해주었고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 실행 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델리게이트를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호출하여 사용 가능 여부를 확인하는 구조입니다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33179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UPlayerActionComponent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3799" y="3050007"/>
            <a:ext cx="56512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액션은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3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가지 유형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공격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강공격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각각의 공격 유형의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입력받아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처리합니다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액션들 간에 사전에 설정된 연결 정보를 기반으로 연속적으로 액션을 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액션이 실행되고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2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초간 연결된 공격유형에 해당하는 입력이 들어오면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다음 공격이 실행되는 방식입니다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54275" y="2803786"/>
            <a:ext cx="33179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콤보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연계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328827" y="4158001"/>
            <a:ext cx="2767173" cy="2170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콤보</a:t>
            </a:r>
            <a:r>
              <a:rPr lang="ko-KR" altLang="en-US" dirty="0" smtClean="0"/>
              <a:t> 연계 이미지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666333" y="315046"/>
            <a:ext cx="5179769" cy="2334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APlayerCharacter</a:t>
            </a:r>
            <a:endParaRPr lang="en-US" altLang="ko-KR" dirty="0" smtClean="0"/>
          </a:p>
          <a:p>
            <a:pPr algn="ctr"/>
            <a:r>
              <a:rPr lang="en-US" altLang="ko-KR" dirty="0" err="1" smtClean="0"/>
              <a:t>TryUseStamina</a:t>
            </a:r>
            <a:r>
              <a:rPr lang="en-US" altLang="ko-KR" dirty="0" smtClean="0"/>
              <a:t> </a:t>
            </a:r>
            <a:r>
              <a:rPr lang="ko-KR" altLang="en-US" dirty="0" smtClean="0"/>
              <a:t>바인딩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666333" y="2803786"/>
            <a:ext cx="5179769" cy="3525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액션 호출 코드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40001" y="4158001"/>
            <a:ext cx="2490876" cy="2170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공격 입력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400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106765"/>
            <a:ext cx="565124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액션을 모듈화한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액션으로 실행할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UAnimMontage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할당하고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몽타주에서 설정한 노티파이를 이용하여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액션의 세부적인 동작을 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액션의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UAnimNotify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상속한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UAttackNotify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UAttackNotify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멤버변수 인덱스를 통해 원하는 시점에 특정한 동작을 수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UAttackNotify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경우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뿐만 아니라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몬스터도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사용하고 있기 때문에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클래스에 의존하지 않도록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IAttackNotifyHandler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만들어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HandleAttackNotify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구현하여 몽타주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재생 중 정확한 시점의 타격 및 세분화된 공격 동작을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860544"/>
            <a:ext cx="33179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UAction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40000" y="3047732"/>
            <a:ext cx="5555999" cy="3557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Action </a:t>
            </a:r>
            <a:r>
              <a:rPr lang="ko-KR" altLang="en-US" dirty="0" err="1" smtClean="0"/>
              <a:t>에셋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666333" y="315046"/>
            <a:ext cx="5179769" cy="1825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AttackNotify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666333" y="2431474"/>
            <a:ext cx="5179769" cy="2317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캐릭터 </a:t>
            </a:r>
            <a:r>
              <a:rPr lang="en-US" altLang="ko-KR" dirty="0" err="1" smtClean="0"/>
              <a:t>HandleAttackNotify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666333" y="4904508"/>
            <a:ext cx="5179769" cy="1700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몽타주에 노티파이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66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106765"/>
            <a:ext cx="5651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액션이 진행하는 과정에서 효과를 적용할 수 있도록 했습니다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원하는 시점에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UEffectData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할당하여 효과를 적용할 수 있습니다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액션에서 효과를 적용하는 시점을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4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가지로 설정해두고 각각의 시점에서 할당한 효과를 적용시킵니다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860544"/>
            <a:ext cx="33179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액션 실행 중 효과 발동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418114" y="1753411"/>
            <a:ext cx="2677885" cy="184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Action </a:t>
            </a:r>
            <a:r>
              <a:rPr lang="ko-KR" altLang="en-US" dirty="0" err="1" smtClean="0"/>
              <a:t>에셋</a:t>
            </a:r>
            <a:r>
              <a:rPr lang="ko-KR" altLang="en-US" dirty="0" smtClean="0"/>
              <a:t> 효과 </a:t>
            </a:r>
            <a:r>
              <a:rPr lang="ko-KR" altLang="en-US" dirty="0" err="1" smtClean="0"/>
              <a:t>할당란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666333" y="315046"/>
            <a:ext cx="5179769" cy="2983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효과 적용 코드들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40000" y="1753410"/>
            <a:ext cx="2693058" cy="184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효과 시점 </a:t>
            </a:r>
            <a:r>
              <a:rPr lang="en-US" altLang="ko-KR" dirty="0" err="1" smtClean="0"/>
              <a:t>enum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63799" y="4003279"/>
            <a:ext cx="56512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캐릭터가 사용하는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간의 연계에 대한 정보를 담은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간의 연결은 인접리스트를 이용한 그래프로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54275" y="3757058"/>
            <a:ext cx="33179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UActionComboData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39999" y="4496034"/>
            <a:ext cx="5555999" cy="184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ComboDataAsset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666332" y="3603171"/>
            <a:ext cx="5179769" cy="2742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콤보</a:t>
            </a:r>
            <a:r>
              <a:rPr lang="ko-KR" altLang="en-US" dirty="0" smtClean="0"/>
              <a:t> 구현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14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2114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기능 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: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스킬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스킬은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본래 가진 액션의 성능을 강화하거나 새로운 액션 연계를 얻는 방식으로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성장은 스킬 포인트는 스테이지를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클리어하며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얻은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경험치로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레벨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업할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때 얻을 수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이렇게 얻은 스킬 포인트로 미리 설정된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스킬트리에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따라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원하는대로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육성할 수 있도록 개발했습니다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스킬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54275" y="2280566"/>
            <a:ext cx="5651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스킬의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적용은 플레이어의 선택에 따라 동적이기 때문에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UPlayerActionComponent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한 차례 감싼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UActionInstance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클래스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사용하고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기본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설정값과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함께 스킬 성장으로 인해 얻은 값이나 추가적인 효과를 동적으로 처리했습니다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4751" y="2034345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UActionInstance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44751" y="3080785"/>
            <a:ext cx="565124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강화를 나타내는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해당 강화를 선택하면 지정된 액션에 강화 내용이 반영됩니다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다형성을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이용하여 상위 클래스에서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AdjustSkillNode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호출하면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하위 클래스에서 재정의한 내용을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반영하는 식으로 구조화했습니다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주요 하위 클래스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USkillNodeUnlockAction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액션의 연계를 해금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USkillNodeModifyEffect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액션이 기존에 가진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버프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디버프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의 수치를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USkillNodeExtendEffect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액션에 새로운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이펙트를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추가하는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기능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USkillNodeModifySpec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: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액션의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데미지량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스태미너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소모량 등을 변경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54275" y="2834564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USkillUpgrade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39999" y="4846320"/>
            <a:ext cx="5555999" cy="14994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스킬 업그레이드 </a:t>
            </a:r>
            <a:r>
              <a:rPr lang="ko-KR" altLang="en-US" dirty="0" err="1" smtClean="0"/>
              <a:t>에셋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666333" y="315046"/>
            <a:ext cx="5179769" cy="2983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UActionInstance</a:t>
            </a:r>
            <a:r>
              <a:rPr lang="ko-KR" altLang="en-US" dirty="0" smtClean="0"/>
              <a:t>에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스킬 적용하는 코드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666333" y="3488942"/>
            <a:ext cx="5179769" cy="2856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스킬 적용 구현 예시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224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54275" y="1106765"/>
            <a:ext cx="5651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선택할 수 있는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스킬들을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트리 형태로 설정한 데이터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에셋입니다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강화할 액션의 내용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포인트 소모량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강화 내용으로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노드를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구성하고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자식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노드들을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설정하여 트리 데이터 구조로 설정했습니다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44751" y="860544"/>
            <a:ext cx="27609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USkillTreeData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9999" y="1745536"/>
            <a:ext cx="5555999" cy="2260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스킬 트리 </a:t>
            </a:r>
            <a:r>
              <a:rPr lang="ko-KR" altLang="en-US" dirty="0" err="1" smtClean="0"/>
              <a:t>에셋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549525" y="4113235"/>
            <a:ext cx="5555999" cy="2260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스킬 트리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6666333" y="2221324"/>
            <a:ext cx="5179769" cy="2856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구현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55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21948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플레이어 데이터 저장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플레이어의 레벨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경험치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보유한 재화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정보등을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저장합니다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실질적인 저장 동작은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USaveLoadManager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만들었고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ISaveLoadHandler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인터페이스를 이용해서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데이터 외에도 다른 정보들을 저장하고 불러올 수 있도록 구조화했습니다</a:t>
            </a:r>
            <a:r>
              <a:rPr lang="en-US" altLang="ko-KR" sz="100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ko-KR" altLang="en-US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444255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USaveGame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상속한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UPlayerSaveGame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766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2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몬스터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기능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상속 및 구현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 같이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ACharacter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IEffectable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IHitable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IAttackNotifyHander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상속하고 구현하고 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UStatComponent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 동일하게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기능과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이펙트에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영향을 받을 수 있도록 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MonsterActionComponent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 다르게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콤보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연계의 기능이 필요 없으므로 간략한 형태로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BT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릁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통해서 입력된 공격 액션을 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MonsterConfig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MonsterData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외형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액션은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데이터에셋으로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스탯은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데이터테이블을 통해서 구성하도록 구조화했습니다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데이터테이블의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ID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가지고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던전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스테이지에 사용할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몬스터들을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구성할 수 있도록 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53769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공통사항과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데이터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9999" y="4065104"/>
            <a:ext cx="5555999" cy="2357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몬스터</a:t>
            </a:r>
            <a:r>
              <a:rPr lang="ko-KR" altLang="en-US" dirty="0" smtClean="0"/>
              <a:t> 구성도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334512" y="315047"/>
            <a:ext cx="5555999" cy="2260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상속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334511" y="2733568"/>
            <a:ext cx="5555999" cy="368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몬스터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90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2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일반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몬스터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BehaviorTree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활용하여 행동 양식을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주변을 돌아다니며 탐색합니다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UBTService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상속한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UFindPlayerService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 마다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SphereTrace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로 주변을 탐색합니다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적을 발견하면 공격 상태로 전환합니다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타겟에게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다가가며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범위 내일 때 공격합니다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UBTTask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상속한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UAttackTask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가진 액션 중 랜덤으로 공격 액션을 수행하도록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추적 불가한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경우 일정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시간 동안 적에게 다가가지 못하는 상황일 때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다시 일반 상태로 복귀합니다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537692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BehaviorTree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874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2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295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보스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몬스터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몬스터는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수행할 수 있도록 구현했습니다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액션마다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씩 스킬 포인트를 얻고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10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이상 스킬 포인트가 모이면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액션을 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각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액션을 파훼하면 보스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몬스터는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일시적으로 그로기 상태가 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액션 종류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카운터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보스가 정면으로 이동하며 공격합니다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정면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기준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120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도 이내 방향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스매시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공격 시 파훼 가능합니다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무력화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: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보스가 일정 시간 동안 무력화 가능 상태가 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무력화 게이지를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0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으로 만들지 못하면 일정 시간 후 매우 강력한 공격을 실행합니다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13840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기믹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수행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892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2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54275" y="1126643"/>
            <a:ext cx="565124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주변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랜덤한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곳을 돌아다니며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탐색합니다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동일하게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FindPlayer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이용하여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초마다 주변을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탐색하고 플레이어 발견하면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상태로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전환합니다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상태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플레이어와의 거리에 따라 근접 공격이 가능한지 확인합니다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공격이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불가한 경우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타겟에게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다가가며 원거리 공격으로 견제합니다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근접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공격이 가능하면 일반 공격 중 랜덤으로 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개를 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</a:b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스킬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포인트가 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10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이상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모이면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기믹을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수행합니다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4751" y="880422"/>
            <a:ext cx="552866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보스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BehaviorTree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60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3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스테이지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StageData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스테이지에 사용할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몬스터들의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정보와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클리어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보상 정보를 데이터테이블로 만들어두었습니다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StageSection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스테이지는 몇 개의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구역으로 구성되어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모든 구역을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클리어하면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스테이지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종료됩니다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StageSection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은 레벨 배치되어 있고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Index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부여하여 각각의 구역을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표시합니다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플레이어가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StageSection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들어서면 설정된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Index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통해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몬스터들을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생성합니다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생성된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몬스터들을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모두 쓰러뜨리면 해당 구역이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완료됩니다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레벨에서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생성할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몬스터들은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각 구역에서 새로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스폰하지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않고 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UObjectPoolManager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등록하여 재사용합니다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24277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레벨과 스테이지 데이터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23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454275" y="315047"/>
            <a:ext cx="564172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핵심 기능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3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54275" y="710906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스테이지 진행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40000" y="710906"/>
            <a:ext cx="55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54275" y="1480347"/>
            <a:ext cx="565124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 진행은 발행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-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구독 모델을 확장한 이벤트 버스 방식으로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구조를 잡았습니다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같은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액터들이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 진행에 직접적 관여하지 않도록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GameMode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를 통한 이벤트 기반으로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작업했습니다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 진행에 발생하는 이벤트 종류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 사망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사망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구역 완료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구역 완료 정보 같이 진행에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필요한 주된 데이터는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GameState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관리합니다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StageSection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사망 이벤트를 구독해두고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죽으면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카운트를 낮춥니다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카운트가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0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이되면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해당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StageSection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은 구역 완료 이벤트를 발행합니다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구역 완료 이벤트가 발행되면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GameState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해당 구역을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완료처리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하고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모든 구역이 완료되면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GameMode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게임을 완료처리 합니다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4751" y="1234126"/>
            <a:ext cx="24277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이벤트 기반 진행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697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트러블슈팅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4275" y="1234126"/>
            <a:ext cx="48333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문제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발생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54275" y="710906"/>
            <a:ext cx="27767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랜드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스케이프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적용 후 에러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4275" y="2988450"/>
            <a:ext cx="6880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해결 방법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4275" y="1480347"/>
            <a:ext cx="87550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플레이어와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기반 기능 구현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후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가지고 레벨을 만들어 테스트하던 도중 에러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발생했습니다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54274" y="3234671"/>
            <a:ext cx="875503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FActorSpawnParameters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SpawnCollisionHandlingOverride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설정을 </a:t>
            </a:r>
            <a:r>
              <a:rPr lang="en-US" altLang="ko-KR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AlwaysSpawn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을 변경 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해결했습니다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54274" y="1880455"/>
            <a:ext cx="48333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원인 분석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54274" y="2126676"/>
            <a:ext cx="875503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최초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액터를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nullptr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반환되어 에러가 발생했습니다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기존 테스트에 쓰던 레벨에선 발생하지 않는 것을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확인했고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새로 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작업 중인 레벨과의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차이점은 </a:t>
            </a:r>
            <a:r>
              <a:rPr lang="ko-KR" altLang="en-US" sz="1000" dirty="0" err="1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사용 유무임을 확인했습니다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스케이프에서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일반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스태틱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메쉬와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달리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Z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축 높이와 충돌 문제가 있음을 확인했습니다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기존에 쓰던 평평한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메시에서와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달리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z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축 높이 차이와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랜드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스케이프와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충돌로 인해서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스폰이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실패 처리되어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nullptr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반환되었습니다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436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트러블슈팅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54275" y="710906"/>
            <a:ext cx="30668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레벨 시퀀스 적용 후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</a:t>
            </a:r>
            <a:r>
              <a:rPr lang="ko-KR" altLang="en-US" dirty="0" err="1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빌드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 에러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54275" y="1234126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문제 발생과 원인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54275" y="2588342"/>
            <a:ext cx="6880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해결 방법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54275" y="1480347"/>
            <a:ext cx="875503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보스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몬스터의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등장 연출을 위해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레벨 시퀀스를 이용한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컷씬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작업 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발생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에디터를 통한 테스트 이후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빌드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테스트를 진행하다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에러을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확인했습니다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에러 로그를 살펴보니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DataManager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초기화 중 스테이지 데이터 테이블을 참조하는 과정에서 문제가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발생했습니다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스테이지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데이터테이블에서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레벨 시퀀스를 참조하고 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레벨 시퀀스에서 사용하는 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액터가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아직 등록되지 않아 문제가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발생했습니다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54274" y="2834563"/>
            <a:ext cx="87550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등록되지 않았다는 로그를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빌드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누락이 발생했다고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생각했습니다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프로젝트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세팅에서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패키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징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특정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반드시 포함하도록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설정하고 다시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빌드를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시도했습니다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그럼에도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빌드는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실패했고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동일한 에러 로그가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출력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됐습니다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누락이 아니라 데이터테이블에서 레벨 시퀀스를 직접 참조하기 때문에 발생한 것이라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판단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했고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검증을 위해서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데이터테이블에서 레벨 시퀀스를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TObjectPtr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 아닌 </a:t>
            </a:r>
            <a:r>
              <a:rPr lang="en-US" altLang="ko-KR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TSoftObjectPtr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로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변경했습니다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레퍼런스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-&gt;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소프트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레퍼런스로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변경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)</a:t>
            </a: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그 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다시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빌드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시도에서 성공한 것을 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확인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했습니다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레벨 시퀀스를 사용하는 부분에서 레벨 시퀀스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에셋을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비동기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</a:t>
            </a:r>
            <a:r>
              <a:rPr lang="ko-KR" altLang="en-US" sz="10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로드하도록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 변경 </a:t>
            </a:r>
            <a:r>
              <a:rPr lang="ko-KR" altLang="en-US" sz="100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후 </a:t>
            </a:r>
            <a:r>
              <a:rPr lang="ko-KR" altLang="en-US" sz="100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</a:t>
            </a:r>
            <a:r>
              <a:rPr lang="ko-KR" altLang="en-US" sz="100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하는 것으로 문제를 해결했습니다</a:t>
            </a:r>
            <a:r>
              <a:rPr lang="en-US" altLang="ko-KR" sz="100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043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4275" y="315047"/>
            <a:ext cx="3152775" cy="3958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보완점 및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반성점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540000" y="710906"/>
            <a:ext cx="111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54275" y="710906"/>
            <a:ext cx="3733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/>
            </a:r>
            <a:b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</a:b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Game 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Ability System </a:t>
            </a: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Noto Sans KR ExtraBold" panose="020B0200000000000000" pitchFamily="34" charset="-128"/>
                <a:ea typeface="Noto Sans KR ExtraBold" panose="020B0200000000000000" pitchFamily="34" charset="-128"/>
              </a:rPr>
              <a:t>기능 미사용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Noto Sans KR ExtraBold" panose="020B0200000000000000" pitchFamily="34" charset="-128"/>
              <a:ea typeface="Noto Sans KR ExtraBold" panose="020B0200000000000000" pitchFamily="34" charset="-128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4275" y="1234126"/>
            <a:ext cx="92122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현재 프로젝트의 액션이나 효과 적용 기능이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Unreal Engine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에서 자체적으로 제공하는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Game Ability System(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이하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, GAS)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와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구조적으로 유사했다는 것을 나중에 알게 됐습니다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.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endParaRPr lang="en-US" altLang="ko-KR" sz="1000" dirty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  <a:p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구조를 </a:t>
            </a:r>
            <a:r>
              <a:rPr lang="en-US" altLang="ko-KR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GAS</a:t>
            </a:r>
            <a:r>
              <a:rPr lang="ko-KR" altLang="en-US" sz="1000" dirty="0" smtClean="0">
                <a:solidFill>
                  <a:schemeClr val="bg1">
                    <a:lumMod val="95000"/>
                  </a:schemeClr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로 변경한다면 어떻게 변경할지 정리</a:t>
            </a:r>
            <a:endParaRPr lang="en-US" altLang="ko-KR" sz="1000" dirty="0" smtClean="0">
              <a:solidFill>
                <a:schemeClr val="bg1">
                  <a:lumMod val="95000"/>
                </a:schemeClr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609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4738</TotalTime>
  <Words>2702</Words>
  <Application>Microsoft Office PowerPoint</Application>
  <PresentationFormat>와이드스크린</PresentationFormat>
  <Paragraphs>650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Noto Sans KR DemiLight</vt:lpstr>
      <vt:lpstr>Noto Sans KR ExtraBold</vt:lpstr>
      <vt:lpstr>Noto Sans KR Light</vt:lpstr>
      <vt:lpstr>Noto Sans KR Medium</vt:lpstr>
      <vt:lpstr>맑은 고딕</vt:lpstr>
      <vt:lpstr>Arial</vt:lpstr>
      <vt:lpstr>Open Sans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2101</cp:revision>
  <dcterms:created xsi:type="dcterms:W3CDTF">2025-12-03T02:34:26Z</dcterms:created>
  <dcterms:modified xsi:type="dcterms:W3CDTF">2026-03-22T13:08:35Z</dcterms:modified>
</cp:coreProperties>
</file>