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Default Extension="wdp" ContentType="image/vnd.ms-photo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8"/>
  </p:notesMasterIdLst>
  <p:sldIdLst>
    <p:sldId id="258" r:id="rId2"/>
    <p:sldId id="259" r:id="rId3"/>
    <p:sldId id="260" r:id="rId4"/>
    <p:sldId id="261" r:id="rId5"/>
    <p:sldId id="295" r:id="rId6"/>
    <p:sldId id="296" r:id="rId7"/>
    <p:sldId id="286" r:id="rId8"/>
    <p:sldId id="288" r:id="rId9"/>
    <p:sldId id="298" r:id="rId10"/>
    <p:sldId id="299" r:id="rId11"/>
    <p:sldId id="287" r:id="rId12"/>
    <p:sldId id="300" r:id="rId13"/>
    <p:sldId id="297" r:id="rId14"/>
    <p:sldId id="291" r:id="rId15"/>
    <p:sldId id="301" r:id="rId16"/>
    <p:sldId id="289" r:id="rId17"/>
    <p:sldId id="272" r:id="rId18"/>
    <p:sldId id="292" r:id="rId19"/>
    <p:sldId id="302" r:id="rId20"/>
    <p:sldId id="290" r:id="rId21"/>
    <p:sldId id="293" r:id="rId22"/>
    <p:sldId id="294" r:id="rId23"/>
    <p:sldId id="265" r:id="rId24"/>
    <p:sldId id="276" r:id="rId25"/>
    <p:sldId id="303" r:id="rId26"/>
    <p:sldId id="284" r:id="rId27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A5D8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935" autoAdjust="0"/>
    <p:restoredTop sz="80930" autoAdjust="0"/>
  </p:normalViewPr>
  <p:slideViewPr>
    <p:cSldViewPr snapToGrid="0" showGuides="1">
      <p:cViewPr>
        <p:scale>
          <a:sx n="100" d="100"/>
          <a:sy n="100" d="100"/>
        </p:scale>
        <p:origin x="216" y="-216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C180C216-7AC4-482D-A25B-339B4E373C44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84B0AFA-6D7F-4C31-A334-420C28DC402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6693504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ko-KR" altLang="en-US" dirty="0" smtClean="0"/>
              <a:t>객체지향 기본기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이벤트 활용</a:t>
            </a: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엔진 기능 활용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프로젝트 소개</a:t>
            </a:r>
            <a:endParaRPr lang="en-US" altLang="ko-KR" dirty="0" smtClean="0"/>
          </a:p>
          <a:p>
            <a:pPr marL="0" indent="0">
              <a:buNone/>
            </a:pPr>
            <a:r>
              <a:rPr lang="en-US" altLang="ko-KR" dirty="0" smtClean="0"/>
              <a:t>- </a:t>
            </a:r>
            <a:r>
              <a:rPr lang="ko-KR" altLang="en-US" dirty="0" smtClean="0"/>
              <a:t>프로젝트 진행하면서 구현하고자 했던 의도를 여기서 언급</a:t>
            </a:r>
            <a:endParaRPr lang="en-US" altLang="ko-KR" dirty="0" smtClean="0"/>
          </a:p>
          <a:p>
            <a:pPr marL="0" indent="0">
              <a:buNone/>
            </a:pPr>
            <a:endParaRPr lang="en-US" altLang="ko-KR" dirty="0" smtClean="0"/>
          </a:p>
          <a:p>
            <a:pPr marL="0" indent="0">
              <a:buNone/>
            </a:pPr>
            <a:r>
              <a:rPr lang="ko-KR" altLang="en-US" dirty="0" smtClean="0"/>
              <a:t>핵심기능</a:t>
            </a:r>
            <a:endParaRPr lang="en-US" altLang="ko-KR" dirty="0" smtClean="0"/>
          </a:p>
          <a:p>
            <a:pPr marL="228600" indent="-228600">
              <a:buFontTx/>
              <a:buAutoNum type="arabicPeriod"/>
            </a:pPr>
            <a:r>
              <a:rPr lang="ko-KR" altLang="en-US" baseline="0" dirty="0" smtClean="0"/>
              <a:t>플레이어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조작 </a:t>
            </a: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컨트롤러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- </a:t>
            </a:r>
            <a:r>
              <a:rPr lang="ko-KR" altLang="en-US" baseline="0" dirty="0" smtClean="0"/>
              <a:t>플레이어 액션 구성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dirty="0" err="1" smtClean="0"/>
              <a:t>콤보</a:t>
            </a:r>
            <a:r>
              <a:rPr lang="ko-KR" altLang="en-US" dirty="0" smtClean="0"/>
              <a:t> 연결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스킬 기능</a:t>
            </a:r>
            <a:endParaRPr lang="en-US" altLang="ko-KR" dirty="0" smtClean="0"/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err="1" smtClean="0"/>
              <a:t>스탯</a:t>
            </a:r>
            <a:r>
              <a:rPr lang="ko-KR" altLang="en-US" dirty="0" smtClean="0"/>
              <a:t> 기능</a:t>
            </a:r>
            <a:endParaRPr lang="en-US" altLang="ko-KR" dirty="0" smtClean="0"/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dirty="0" smtClean="0"/>
              <a:t>상호작용 및 타격 </a:t>
            </a:r>
            <a:r>
              <a:rPr lang="en-US" altLang="ko-KR" dirty="0" smtClean="0"/>
              <a:t>(</a:t>
            </a:r>
            <a:r>
              <a:rPr lang="ko-KR" altLang="en-US" dirty="0" smtClean="0"/>
              <a:t>인터페이스</a:t>
            </a:r>
            <a:r>
              <a:rPr lang="en-US" altLang="ko-KR" dirty="0" smtClean="0"/>
              <a:t>)</a:t>
            </a:r>
          </a:p>
          <a:p>
            <a:pPr marL="628650" marR="0" lvl="1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dirty="0" smtClean="0"/>
              <a:t>Trace</a:t>
            </a:r>
            <a:r>
              <a:rPr lang="ko-KR" altLang="en-US" dirty="0" smtClean="0"/>
              <a:t>를 이용한 탐지 및 사용</a:t>
            </a:r>
            <a:endParaRPr lang="en-US" altLang="ko-KR" dirty="0" smtClean="0"/>
          </a:p>
          <a:p>
            <a:pPr marL="0" indent="0">
              <a:buFontTx/>
              <a:buNone/>
            </a:pPr>
            <a:r>
              <a:rPr lang="en-US" altLang="ko-KR" dirty="0" smtClean="0"/>
              <a:t>2.</a:t>
            </a:r>
            <a:r>
              <a:rPr lang="en-US" altLang="ko-KR" baseline="0" dirty="0" smtClean="0"/>
              <a:t>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구성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보스 </a:t>
            </a:r>
            <a:r>
              <a:rPr lang="ko-KR" altLang="en-US" baseline="0" dirty="0" err="1" smtClean="0"/>
              <a:t>몬스터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AI BT</a:t>
            </a:r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BT Task, Service, Decorator</a:t>
            </a:r>
          </a:p>
          <a:p>
            <a:pPr marL="628650" lvl="1" indent="-171450">
              <a:buFontTx/>
              <a:buChar char="-"/>
            </a:pPr>
            <a:r>
              <a:rPr lang="ko-KR" altLang="en-US" baseline="0" dirty="0" err="1" smtClean="0"/>
              <a:t>몬스터</a:t>
            </a:r>
            <a:r>
              <a:rPr lang="ko-KR" altLang="en-US" baseline="0" dirty="0" smtClean="0"/>
              <a:t> 액션 세부 동작을 위한 </a:t>
            </a:r>
            <a:r>
              <a:rPr lang="en-US" altLang="ko-KR" baseline="0" dirty="0" err="1" smtClean="0"/>
              <a:t>AnimNotify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AnimNotifyState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3. </a:t>
            </a:r>
            <a:r>
              <a:rPr lang="ko-KR" altLang="en-US" baseline="0" dirty="0" smtClean="0"/>
              <a:t>스테이지 </a:t>
            </a:r>
            <a:r>
              <a:rPr lang="en-US" altLang="ko-KR" baseline="0" dirty="0" smtClean="0"/>
              <a:t>(</a:t>
            </a:r>
            <a:r>
              <a:rPr lang="ko-KR" altLang="en-US" baseline="0" dirty="0" smtClean="0"/>
              <a:t>게임 진행</a:t>
            </a:r>
            <a:r>
              <a:rPr lang="en-US" altLang="ko-KR" baseline="0" dirty="0" smtClean="0"/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스테이지 섹션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ko-KR" altLang="en-US" baseline="0" dirty="0" smtClean="0"/>
              <a:t>연출용 </a:t>
            </a:r>
            <a:r>
              <a:rPr lang="ko-KR" altLang="en-US" baseline="0" dirty="0" err="1" smtClean="0"/>
              <a:t>컷씬</a:t>
            </a:r>
            <a:r>
              <a:rPr lang="ko-KR" altLang="en-US" baseline="0" dirty="0" smtClean="0"/>
              <a:t> 섹션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CombatGameMode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CombatGameState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활용 이벤트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4. </a:t>
            </a:r>
            <a:r>
              <a:rPr lang="ko-KR" altLang="en-US" baseline="0" dirty="0" smtClean="0"/>
              <a:t>아이템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장비 아이템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제작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강화</a:t>
            </a:r>
            <a:r>
              <a:rPr lang="en-US" altLang="ko-KR" baseline="0" dirty="0" smtClean="0"/>
              <a:t>, </a:t>
            </a:r>
            <a:r>
              <a:rPr lang="ko-KR" altLang="en-US" baseline="0" dirty="0" smtClean="0"/>
              <a:t>계승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5. </a:t>
            </a:r>
            <a:r>
              <a:rPr lang="ko-KR" altLang="en-US" baseline="0" dirty="0" smtClean="0"/>
              <a:t>기타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UI</a:t>
            </a:r>
          </a:p>
          <a:p>
            <a:pPr marL="171450" indent="-171450">
              <a:buFontTx/>
              <a:buChar char="-"/>
            </a:pPr>
            <a:r>
              <a:rPr lang="en-US" altLang="ko-KR" baseline="0" dirty="0" err="1" smtClean="0"/>
              <a:t>UserWidget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상속으로 구성 및</a:t>
            </a:r>
            <a:r>
              <a:rPr lang="en-US" altLang="ko-KR" baseline="0" dirty="0" smtClean="0"/>
              <a:t> </a:t>
            </a:r>
            <a:r>
              <a:rPr lang="en-US" altLang="ko-KR" baseline="0" dirty="0" err="1" smtClean="0"/>
              <a:t>UWPopUp</a:t>
            </a:r>
            <a:r>
              <a:rPr lang="en-US" altLang="ko-KR" baseline="0" dirty="0" smtClean="0"/>
              <a:t> </a:t>
            </a:r>
            <a:r>
              <a:rPr lang="ko-KR" altLang="en-US" baseline="0" dirty="0" smtClean="0"/>
              <a:t>클래스 사용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HUD </a:t>
            </a:r>
            <a:r>
              <a:rPr lang="ko-KR" altLang="en-US" baseline="0" dirty="0" smtClean="0"/>
              <a:t>용도와 </a:t>
            </a:r>
            <a:r>
              <a:rPr lang="en-US" altLang="ko-KR" baseline="0" dirty="0" err="1" smtClean="0"/>
              <a:t>PopUp</a:t>
            </a:r>
            <a:r>
              <a:rPr lang="ko-KR" altLang="en-US" baseline="0" dirty="0" smtClean="0"/>
              <a:t>용도 구분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en-US" altLang="ko-KR" baseline="0" dirty="0" smtClean="0"/>
              <a:t>PCG</a:t>
            </a:r>
          </a:p>
          <a:p>
            <a:pPr marL="0" indent="0">
              <a:buFontTx/>
              <a:buNone/>
            </a:pPr>
            <a:r>
              <a:rPr lang="en-US" altLang="ko-KR" baseline="0" dirty="0" smtClean="0"/>
              <a:t>- PCG </a:t>
            </a:r>
            <a:r>
              <a:rPr lang="ko-KR" altLang="en-US" baseline="0" dirty="0" smtClean="0"/>
              <a:t>활용한 레벨 오브젝트 배치</a:t>
            </a:r>
            <a:endParaRPr lang="en-US" altLang="ko-KR" baseline="0" dirty="0" smtClean="0"/>
          </a:p>
          <a:p>
            <a:pPr marL="0" indent="0">
              <a:buFontTx/>
              <a:buNone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트러블슈팅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err="1" smtClean="0"/>
              <a:t>랜드스케이프</a:t>
            </a:r>
            <a:r>
              <a:rPr lang="ko-KR" altLang="en-US" baseline="0" dirty="0" smtClean="0"/>
              <a:t> 적용 후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액터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스폰</a:t>
            </a:r>
            <a:r>
              <a:rPr lang="ko-KR" altLang="en-US" baseline="0" dirty="0" smtClean="0"/>
              <a:t> 문제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레벨 시퀀스 사용 시</a:t>
            </a:r>
            <a:r>
              <a:rPr lang="en-US" altLang="ko-KR" baseline="0" dirty="0" smtClean="0"/>
              <a:t>, </a:t>
            </a:r>
            <a:r>
              <a:rPr lang="ko-KR" altLang="en-US" baseline="0" dirty="0" err="1" smtClean="0"/>
              <a:t>빌드</a:t>
            </a:r>
            <a:r>
              <a:rPr lang="ko-KR" altLang="en-US" baseline="0" dirty="0" smtClean="0"/>
              <a:t> 에러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endParaRPr lang="en-US" altLang="ko-KR" baseline="0" dirty="0" smtClean="0"/>
          </a:p>
          <a:p>
            <a:pPr marL="0" indent="0">
              <a:buFontTx/>
              <a:buNone/>
            </a:pPr>
            <a:r>
              <a:rPr lang="ko-KR" altLang="en-US" baseline="0" dirty="0" smtClean="0"/>
              <a:t>보완점 및 </a:t>
            </a:r>
            <a:r>
              <a:rPr lang="ko-KR" altLang="en-US" baseline="0" dirty="0" err="1" smtClean="0"/>
              <a:t>반성점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en-US" altLang="ko-KR" baseline="0" dirty="0" smtClean="0"/>
              <a:t>GAS </a:t>
            </a:r>
            <a:r>
              <a:rPr lang="ko-KR" altLang="en-US" baseline="0" dirty="0" smtClean="0"/>
              <a:t>기능 활용</a:t>
            </a:r>
            <a:endParaRPr lang="en-US" altLang="ko-KR" baseline="0" dirty="0" smtClean="0"/>
          </a:p>
          <a:p>
            <a:pPr marL="171450" indent="-171450">
              <a:buFontTx/>
              <a:buChar char="-"/>
            </a:pPr>
            <a:r>
              <a:rPr lang="ko-KR" altLang="en-US" baseline="0" dirty="0" smtClean="0"/>
              <a:t>데이터 구성 시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DataTable</a:t>
            </a:r>
            <a:r>
              <a:rPr lang="ko-KR" altLang="en-US" baseline="0" dirty="0" smtClean="0"/>
              <a:t>과 </a:t>
            </a:r>
            <a:r>
              <a:rPr lang="en-US" altLang="ko-KR" baseline="0" dirty="0" err="1" smtClean="0"/>
              <a:t>DataAsset</a:t>
            </a:r>
            <a:r>
              <a:rPr lang="ko-KR" altLang="en-US" baseline="0" dirty="0" smtClean="0"/>
              <a:t> 사용 구분</a:t>
            </a:r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5725421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dirty="0" smtClean="0"/>
              <a:t>액션 </a:t>
            </a:r>
            <a:r>
              <a:rPr lang="en-US" altLang="ko-KR" dirty="0" smtClean="0"/>
              <a:t>RPG </a:t>
            </a:r>
            <a:r>
              <a:rPr lang="ko-KR" altLang="en-US" dirty="0" smtClean="0"/>
              <a:t>장르</a:t>
            </a:r>
            <a:endParaRPr lang="en-US" altLang="ko-KR" dirty="0" smtClean="0"/>
          </a:p>
          <a:p>
            <a:r>
              <a:rPr lang="ko-KR" altLang="en-US" dirty="0" smtClean="0"/>
              <a:t>먼 미래 모종의 이유로 기존</a:t>
            </a:r>
            <a:r>
              <a:rPr lang="ko-KR" altLang="en-US" baseline="0" dirty="0" smtClean="0"/>
              <a:t> 문명이 멸망한 포스트 </a:t>
            </a:r>
            <a:r>
              <a:rPr lang="ko-KR" altLang="en-US" baseline="0" dirty="0" err="1" smtClean="0"/>
              <a:t>아포칼립스</a:t>
            </a:r>
            <a:r>
              <a:rPr lang="ko-KR" altLang="en-US" baseline="0" dirty="0" smtClean="0"/>
              <a:t> 세계관에서</a:t>
            </a:r>
            <a:endParaRPr lang="en-US" altLang="ko-KR" baseline="0" dirty="0" smtClean="0"/>
          </a:p>
          <a:p>
            <a:r>
              <a:rPr lang="ko-KR" altLang="en-US" baseline="0" dirty="0" smtClean="0"/>
              <a:t>생존을 위해 폐허를 떠돌며 자원을 수집해나가는 액션 </a:t>
            </a:r>
            <a:r>
              <a:rPr lang="en-US" altLang="ko-KR" baseline="0" dirty="0" smtClean="0"/>
              <a:t>RPG </a:t>
            </a:r>
            <a:r>
              <a:rPr lang="ko-KR" altLang="en-US" baseline="0" dirty="0" smtClean="0"/>
              <a:t>게임입니다</a:t>
            </a:r>
            <a:r>
              <a:rPr lang="en-US" altLang="ko-KR" baseline="0" dirty="0" smtClean="0"/>
              <a:t>.</a:t>
            </a:r>
          </a:p>
          <a:p>
            <a:endParaRPr lang="en-US" altLang="ko-KR" dirty="0" smtClean="0"/>
          </a:p>
          <a:p>
            <a:r>
              <a:rPr lang="ko-KR" altLang="en-US" dirty="0" err="1" smtClean="0"/>
              <a:t>레퍼런스로</a:t>
            </a:r>
            <a:r>
              <a:rPr lang="ko-KR" altLang="en-US" dirty="0" smtClean="0"/>
              <a:t> 삼은 </a:t>
            </a:r>
            <a:r>
              <a:rPr lang="en-US" altLang="ko-KR" dirty="0" err="1" smtClean="0"/>
              <a:t>vindictus</a:t>
            </a:r>
            <a:r>
              <a:rPr lang="en-US" altLang="ko-KR" dirty="0" smtClean="0"/>
              <a:t> : defying fate</a:t>
            </a:r>
            <a:r>
              <a:rPr lang="ko-KR" altLang="en-US" baseline="0" dirty="0" smtClean="0"/>
              <a:t>가 표현한 </a:t>
            </a:r>
            <a:r>
              <a:rPr lang="ko-KR" altLang="en-US" baseline="0" dirty="0" err="1" smtClean="0"/>
              <a:t>콤보를</a:t>
            </a:r>
            <a:r>
              <a:rPr lang="ko-KR" altLang="en-US" baseline="0" dirty="0" smtClean="0"/>
              <a:t> 통한 스킬 </a:t>
            </a:r>
            <a:r>
              <a:rPr lang="ko-KR" altLang="en-US" baseline="0" dirty="0" err="1" smtClean="0"/>
              <a:t>조작감</a:t>
            </a:r>
            <a:endParaRPr lang="en-US" altLang="ko-KR" baseline="0" dirty="0" smtClean="0"/>
          </a:p>
          <a:p>
            <a:r>
              <a:rPr lang="ko-KR" altLang="en-US" baseline="0" dirty="0" smtClean="0"/>
              <a:t>광범위 공격을 이용한 </a:t>
            </a:r>
            <a:r>
              <a:rPr lang="ko-KR" altLang="en-US" baseline="0" dirty="0" err="1" smtClean="0"/>
              <a:t>핵앤슬래쉬</a:t>
            </a:r>
            <a:r>
              <a:rPr lang="ko-KR" altLang="en-US" baseline="0" dirty="0" smtClean="0"/>
              <a:t> 느낌의 표현</a:t>
            </a:r>
            <a:endParaRPr lang="en-US" altLang="ko-KR" baseline="0" dirty="0" smtClean="0"/>
          </a:p>
          <a:p>
            <a:r>
              <a:rPr lang="ko-KR" altLang="en-US" baseline="0" dirty="0" smtClean="0"/>
              <a:t>보스와 일대일 전투에선 보스의 패턴을 파훼하고 보스의 공격에 대응하는 기능 구현에 신경 씀</a:t>
            </a: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214304718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8409901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63823936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US" altLang="ko-KR" baseline="0" dirty="0" err="1" smtClean="0"/>
              <a:t>ARPGGameInstance</a:t>
            </a:r>
            <a:r>
              <a:rPr lang="en-US" altLang="ko-KR" baseline="0" dirty="0" smtClean="0"/>
              <a:t> </a:t>
            </a:r>
          </a:p>
          <a:p>
            <a:pPr marL="0" indent="0">
              <a:buNone/>
            </a:pPr>
            <a:r>
              <a:rPr lang="en-US" altLang="ko-KR" baseline="0" dirty="0" err="1" smtClean="0"/>
              <a:t>GameInstanceSubSystem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PlayerManager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Inventory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</a:p>
          <a:p>
            <a:pPr marL="2000250" marR="0" lvl="4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en-US" altLang="ko-KR" baseline="0" dirty="0" err="1" smtClean="0"/>
              <a:t>ConsumableItem</a:t>
            </a:r>
            <a:endParaRPr lang="en-US" altLang="ko-KR" baseline="0" dirty="0" smtClean="0"/>
          </a:p>
          <a:p>
            <a:pPr marL="2000250" lvl="4" indent="-171450">
              <a:buFontTx/>
              <a:buChar char="-"/>
            </a:pPr>
            <a:r>
              <a:rPr lang="en-US" altLang="ko-KR" baseline="0" dirty="0" err="1" smtClean="0"/>
              <a:t>EquipmentItem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err="1" smtClean="0"/>
              <a:t>ItemData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ItemConfig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smtClean="0"/>
              <a:t>Equipment</a:t>
            </a:r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QuickSlot</a:t>
            </a:r>
            <a:endParaRPr lang="en-US" altLang="ko-KR" baseline="0" dirty="0" smtClean="0"/>
          </a:p>
          <a:p>
            <a:pPr marL="1543050" lvl="3" indent="-171450">
              <a:buFontTx/>
              <a:buChar char="-"/>
            </a:pPr>
            <a:r>
              <a:rPr lang="en-US" altLang="ko-KR" baseline="0" dirty="0" smtClean="0"/>
              <a:t>Item</a:t>
            </a:r>
            <a:r>
              <a:rPr lang="ko-KR" altLang="en-US" baseline="0" dirty="0" smtClean="0"/>
              <a:t> </a:t>
            </a:r>
            <a:r>
              <a:rPr lang="ko-KR" altLang="en-US" baseline="0" dirty="0" err="1" smtClean="0"/>
              <a:t>약참조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SkillDevelop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DataManager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SaveLoadManager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ISaveLoadHandler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WorldSubSystem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ObjectPoolManager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ARPGGameMode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CombatMode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PlayerCharacter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Effect</a:t>
            </a:r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TermEffect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PeriodicEffect</a:t>
            </a:r>
            <a:endParaRPr lang="en-US" altLang="ko-KR" baseline="0" dirty="0" smtClean="0"/>
          </a:p>
          <a:p>
            <a:pPr marL="1085850" lvl="2" indent="-171450">
              <a:buFontTx/>
              <a:buChar char="-"/>
            </a:pPr>
            <a:r>
              <a:rPr lang="en-US" altLang="ko-KR" baseline="0" dirty="0" err="1" smtClean="0"/>
              <a:t>EventEffect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EffectData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PlayerActionComponent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smtClean="0"/>
              <a:t>Action, </a:t>
            </a:r>
            <a:r>
              <a:rPr lang="en-US" altLang="ko-KR" baseline="0" dirty="0" err="1" smtClean="0"/>
              <a:t>AttackActonCombo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SkillUpgradeData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SkillTreeData</a:t>
            </a:r>
            <a:endParaRPr lang="en-US" altLang="ko-KR" baseline="0" dirty="0" smtClean="0"/>
          </a:p>
          <a:p>
            <a:pPr marL="0" marR="0" lvl="0" indent="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baseline="0" dirty="0" err="1" smtClean="0"/>
              <a:t>MonsterBase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IHitable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IAttackNotifyHandler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IEffectable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StatComponent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RegularMonster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MonsterActionComponent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BossMonster</a:t>
            </a:r>
            <a:r>
              <a:rPr lang="en-US" altLang="ko-KR" baseline="0" dirty="0" smtClean="0"/>
              <a:t> : </a:t>
            </a:r>
            <a:r>
              <a:rPr lang="en-US" altLang="ko-KR" baseline="0" dirty="0" err="1" smtClean="0"/>
              <a:t>IGimicHandler</a:t>
            </a:r>
            <a:endParaRPr lang="en-US" altLang="ko-KR" baseline="0" dirty="0" smtClean="0"/>
          </a:p>
          <a:p>
            <a:pPr marL="628650" lvl="1" indent="-171450">
              <a:buFontTx/>
              <a:buChar char="-"/>
            </a:pPr>
            <a:r>
              <a:rPr lang="en-US" altLang="ko-KR" baseline="0" dirty="0" err="1" smtClean="0"/>
              <a:t>BossActionComponent</a:t>
            </a:r>
            <a:endParaRPr lang="en-US" altLang="ko-KR" baseline="0" dirty="0" smtClean="0"/>
          </a:p>
          <a:p>
            <a:pPr marL="457200" lvl="1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StageSection</a:t>
            </a:r>
            <a:r>
              <a:rPr lang="en-US" altLang="ko-KR" baseline="0" dirty="0" smtClean="0"/>
              <a:t>, </a:t>
            </a:r>
            <a:r>
              <a:rPr lang="en-US" altLang="ko-KR" baseline="0" dirty="0" err="1" smtClean="0"/>
              <a:t>StageCutSceneSection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smtClean="0"/>
              <a:t>ARPGHUD</a:t>
            </a:r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NonCombatHUD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CombatHUD</a:t>
            </a:r>
            <a:endParaRPr lang="en-US" altLang="ko-KR" baseline="0" dirty="0" smtClean="0"/>
          </a:p>
          <a:p>
            <a:pPr marL="0" lvl="0" indent="0">
              <a:buFontTx/>
              <a:buNone/>
            </a:pPr>
            <a:r>
              <a:rPr lang="en-US" altLang="ko-KR" baseline="0" dirty="0" err="1" smtClean="0"/>
              <a:t>UserWidget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err="1" smtClean="0"/>
              <a:t>UWPopUp</a:t>
            </a:r>
            <a:endParaRPr lang="en-US" altLang="ko-KR" baseline="0" dirty="0" smtClean="0"/>
          </a:p>
          <a:p>
            <a:pPr marL="171450" lvl="0" indent="-171450">
              <a:buFontTx/>
              <a:buChar char="-"/>
            </a:pPr>
            <a:r>
              <a:rPr lang="en-US" altLang="ko-KR" baseline="0" dirty="0" smtClean="0"/>
              <a:t>…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6345764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66922254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0365114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94311445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등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반영하여 플레이어 캐릭터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컴포넌트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기본 캐릭터의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장비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관리하여 종합적으로 계산한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받을 수 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게이지와 같은 자원의 성격을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이벤트 제공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등의 효과를 거는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기능을 살펴보니 거의 대부분이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공통적을 발견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그에 따라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효과를 등록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관리하는 기능을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접근하기엔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의존성이 발생할 것을 고려하여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작성하도록 함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사용해서 구현한 효과 작동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특정한 조건을 만족할 때 효과를 부여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7451171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 역할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AnimMontage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이용한 액션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UActionComboData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그래프 형태로 이어 연계 동작을 설정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공격 입력에 따라 설정한 그래프의 연결을 따라 액션을 수행하도록 작동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6828734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marR="0" lvl="0" indent="-171450" algn="l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Char char="-"/>
              <a:tabLst/>
              <a:defRPr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진행 중 발생하는 이벤트에 따라 지정한 효과를 얻거나 대상에게 부여할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628650" lvl="1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26484178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데이터를 이용하여 공격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AnimNotify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 변수로 특정 인덱스를 부여하여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액션에서도 특정 동작에 대한 타격 범위나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세분화하여 설정하도록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사용하는 등 타 클래스간의 의존성에 대한 고려가 필요했음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사용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하여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 재생 중 정확한 시점의 타격 및 세분화된 공격 동작을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17324546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05625125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성장시킬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내용을 나타내는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DataAsset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메서드를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플레이어의 액션 그래프에 스킬 성장 반영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후속 액션을 해금하는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클래스로 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USkillTreeData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강화 가능하도록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USkillUpgrade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트리 형태로 구성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계열의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선택해야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넘어가게끔 구현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02798229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관리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액션 컴포넌트와 액션 처리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반영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기능 설명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기능에 따라 필요한 클래스 명시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 역할 기입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00271199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17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2085353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탐색합니다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171450" indent="-171450">
              <a:buFontTx/>
              <a:buChar char="-"/>
            </a:pP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18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99356932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 marL="0" lvl="0" indent="0">
              <a:buFontTx/>
              <a:buNone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19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3461196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indent="-171450">
              <a:buFontTx/>
              <a:buChar char="-"/>
            </a:pP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상태일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발견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628650" lvl="1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거리를 확인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거리라면 추적하며 원거리 공격을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085850" lvl="2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만약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행동이 가능하다면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20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50529737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lvl="0" indent="0">
              <a:buFont typeface="Arial" panose="020B0604020202020204" pitchFamily="34" charset="0"/>
              <a:buNone/>
            </a:pPr>
            <a:r>
              <a:rPr lang="ko-KR" altLang="en-US" dirty="0" err="1" smtClean="0"/>
              <a:t>몬스터</a:t>
            </a:r>
            <a:r>
              <a:rPr lang="ko-KR" altLang="en-US" dirty="0" smtClean="0"/>
              <a:t> 종류</a:t>
            </a:r>
            <a:endParaRPr lang="en-US" altLang="ko-KR" dirty="0" smtClean="0"/>
          </a:p>
          <a:p>
            <a:pPr marL="0" lvl="0" indent="0">
              <a:buFont typeface="Arial" panose="020B0604020202020204" pitchFamily="34" charset="0"/>
              <a:buNone/>
            </a:pPr>
            <a:endParaRPr lang="en-US" altLang="ko-KR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78848644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22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163676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원인 분석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반환으로 인한 에러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확인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작업 중인 레벨과의 차이점이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여부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 레벨에서 바닥은 넓은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큐브를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스케이프는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일반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충돌 설정과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문제가 있었음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충돌하며 실패 처리되어 </a:t>
            </a:r>
            <a:r>
              <a:rPr lang="en-US" altLang="ko-KR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반환된 것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23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0171614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97498286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altLang="ko-KR" baseline="0" dirty="0" smtClean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25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046971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프로젝트의 액션이나 효과 적용 기능이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Unreal Engine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자체적으로 제공하는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Ability System(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GAS)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구조적으로 유사했다는 것을 나중에 알게 됐습니다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 단에서 이미 지원하는 기능이 있다는 것을 모른 상태로 개발을 진행한 것이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엔진을 사용하는 장점을 져버렸다는 점이 아쉬웠습니다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점을 반성하고자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학습하고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현재 프로젝트 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적용한다면 어떤 식으로 작업할지 정리해보았습니다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3959A276-DDEF-4E56-B152-12AB79E03CC8}" type="slidenum">
              <a:rPr lang="ko-KR" altLang="en-US" smtClean="0"/>
              <a:t>26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9738270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2166859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6718528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5031411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0546478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7441198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7835270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57503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946412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86566971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20987675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6068672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tx1">
            <a:lumMod val="85000"/>
            <a:lumOff val="15000"/>
          </a:scheme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056477C-5364-4FAF-AB24-F59E083ADCD2}" type="datetimeFigureOut">
              <a:rPr lang="ko-KR" altLang="en-US" smtClean="0"/>
              <a:t>2026-03-25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F3705A5-2629-49A0-9858-35F1EC978729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414013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microsoft.com/office/2007/relationships/hdphoto" Target="../media/hdphoto1.wdp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microsoft.com/office/2007/relationships/hdphoto" Target="../media/hdphoto2.wdp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7" Type="http://schemas.openxmlformats.org/officeDocument/2006/relationships/image" Target="../media/image1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8.xml.rels><?xml version="1.0" encoding="UTF-8" standalone="yes"?>
<Relationships xmlns="http://schemas.openxmlformats.org/package/2006/relationships"><Relationship Id="rId8" Type="http://schemas.openxmlformats.org/officeDocument/2006/relationships/image" Target="../media/image17.png"/><Relationship Id="rId3" Type="http://schemas.openxmlformats.org/officeDocument/2006/relationships/image" Target="../media/image12.png"/><Relationship Id="rId7" Type="http://schemas.openxmlformats.org/officeDocument/2006/relationships/image" Target="../media/image1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7" Type="http://schemas.openxmlformats.org/officeDocument/2006/relationships/image" Target="../media/image2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1.png"/><Relationship Id="rId5" Type="http://schemas.openxmlformats.org/officeDocument/2006/relationships/image" Target="../media/image20.png"/><Relationship Id="rId4" Type="http://schemas.openxmlformats.org/officeDocument/2006/relationships/image" Target="../media/image19.png"/></Relationships>
</file>

<file path=ppt/slides/_rels/slide10.xml.rels><?xml version="1.0" encoding="UTF-8" standalone="yes"?>
<Relationships xmlns="http://schemas.openxmlformats.org/package/2006/relationships"><Relationship Id="rId8" Type="http://schemas.openxmlformats.org/officeDocument/2006/relationships/image" Target="../media/image28.png"/><Relationship Id="rId3" Type="http://schemas.openxmlformats.org/officeDocument/2006/relationships/image" Target="../media/image23.png"/><Relationship Id="rId7" Type="http://schemas.openxmlformats.org/officeDocument/2006/relationships/image" Target="../media/image27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24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7" Type="http://schemas.openxmlformats.org/officeDocument/2006/relationships/image" Target="../media/image3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2.png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7" Type="http://schemas.openxmlformats.org/officeDocument/2006/relationships/image" Target="../media/image38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43.png"/><Relationship Id="rId3" Type="http://schemas.openxmlformats.org/officeDocument/2006/relationships/image" Target="../media/image39.png"/><Relationship Id="rId7" Type="http://schemas.openxmlformats.org/officeDocument/2006/relationships/image" Target="../media/image4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1.png"/><Relationship Id="rId5" Type="http://schemas.openxmlformats.org/officeDocument/2006/relationships/image" Target="../media/image40.png"/><Relationship Id="rId4" Type="http://schemas.openxmlformats.org/officeDocument/2006/relationships/image" Target="../media/image30.png"/><Relationship Id="rId9" Type="http://schemas.openxmlformats.org/officeDocument/2006/relationships/image" Target="../media/image44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1.png"/><Relationship Id="rId5" Type="http://schemas.openxmlformats.org/officeDocument/2006/relationships/image" Target="../media/image50.png"/><Relationship Id="rId4" Type="http://schemas.openxmlformats.org/officeDocument/2006/relationships/image" Target="../media/image49.png"/></Relationships>
</file>

<file path=ppt/slides/_rels/slide16.xml.rels><?xml version="1.0" encoding="UTF-8" standalone="yes"?>
<Relationships xmlns="http://schemas.openxmlformats.org/package/2006/relationships"><Relationship Id="rId8" Type="http://schemas.openxmlformats.org/officeDocument/2006/relationships/image" Target="../media/image57.png"/><Relationship Id="rId3" Type="http://schemas.openxmlformats.org/officeDocument/2006/relationships/image" Target="../media/image52.png"/><Relationship Id="rId7" Type="http://schemas.openxmlformats.org/officeDocument/2006/relationships/image" Target="../media/image5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5.png"/><Relationship Id="rId5" Type="http://schemas.openxmlformats.org/officeDocument/2006/relationships/image" Target="../media/image54.png"/><Relationship Id="rId4" Type="http://schemas.openxmlformats.org/officeDocument/2006/relationships/image" Target="../media/image53.png"/><Relationship Id="rId9" Type="http://schemas.openxmlformats.org/officeDocument/2006/relationships/image" Target="../media/image58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3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6.png"/><Relationship Id="rId5" Type="http://schemas.openxmlformats.org/officeDocument/2006/relationships/image" Target="../media/image65.png"/><Relationship Id="rId4" Type="http://schemas.openxmlformats.org/officeDocument/2006/relationships/image" Target="../media/image64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7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69.png"/><Relationship Id="rId4" Type="http://schemas.openxmlformats.org/officeDocument/2006/relationships/image" Target="../media/image68.png"/></Relationships>
</file>

<file path=ppt/slides/_rels/slide20.xml.rels><?xml version="1.0" encoding="UTF-8" standalone="yes"?>
<Relationships xmlns="http://schemas.openxmlformats.org/package/2006/relationships"><Relationship Id="rId8" Type="http://schemas.openxmlformats.org/officeDocument/2006/relationships/image" Target="../media/image75.png"/><Relationship Id="rId3" Type="http://schemas.openxmlformats.org/officeDocument/2006/relationships/image" Target="../media/image70.png"/><Relationship Id="rId7" Type="http://schemas.openxmlformats.org/officeDocument/2006/relationships/image" Target="../media/image74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73.png"/><Relationship Id="rId5" Type="http://schemas.openxmlformats.org/officeDocument/2006/relationships/image" Target="../media/image72.png"/><Relationship Id="rId4" Type="http://schemas.openxmlformats.org/officeDocument/2006/relationships/image" Target="../media/image71.png"/><Relationship Id="rId9" Type="http://schemas.openxmlformats.org/officeDocument/2006/relationships/image" Target="../media/image76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7.png"/><Relationship Id="rId7" Type="http://schemas.openxmlformats.org/officeDocument/2006/relationships/image" Target="../media/image8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/Relationships>
</file>

<file path=ppt/slides/_rels/slide2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7.png"/><Relationship Id="rId3" Type="http://schemas.openxmlformats.org/officeDocument/2006/relationships/image" Target="../media/image82.png"/><Relationship Id="rId7" Type="http://schemas.openxmlformats.org/officeDocument/2006/relationships/image" Target="../media/image8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85.png"/><Relationship Id="rId5" Type="http://schemas.openxmlformats.org/officeDocument/2006/relationships/image" Target="../media/image84.png"/><Relationship Id="rId4" Type="http://schemas.openxmlformats.org/officeDocument/2006/relationships/image" Target="../media/image8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8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0.png"/><Relationship Id="rId4" Type="http://schemas.openxmlformats.org/officeDocument/2006/relationships/image" Target="../media/image89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1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93.png"/><Relationship Id="rId4" Type="http://schemas.openxmlformats.org/officeDocument/2006/relationships/image" Target="../media/image92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4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9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/>
          <p:cNvPicPr>
            <a:picLocks noChangeAspect="1"/>
          </p:cNvPicPr>
          <p:nvPr/>
        </p:nvPicPr>
        <p:blipFill>
          <a:blip r:embed="rId2">
            <a:extLst>
              <a:ext uri="{BEBA8EAE-BF5A-486C-A8C5-ECC9F3942E4B}">
                <a14:imgProps xmlns:a14="http://schemas.microsoft.com/office/drawing/2010/main">
                  <a14:imgLayer r:embed="rId3">
                    <a14:imgEffect>
                      <a14:brightnessContrast bright="-70000"/>
                    </a14:imgEffect>
                  </a14:imgLayer>
                </a14:imgProps>
              </a:ext>
            </a:extLst>
          </a:blip>
          <a:stretch>
            <a:fillRect/>
          </a:stretch>
        </p:blipFill>
        <p:spPr>
          <a:xfrm>
            <a:off x="-929668" y="-157664"/>
            <a:ext cx="14051336" cy="7173326"/>
          </a:xfrm>
          <a:prstGeom prst="rect">
            <a:avLst/>
          </a:prstGeom>
        </p:spPr>
      </p:pic>
      <p:sp>
        <p:nvSpPr>
          <p:cNvPr id="4" name="TextBox 3"/>
          <p:cNvSpPr txBox="1"/>
          <p:nvPr/>
        </p:nvSpPr>
        <p:spPr>
          <a:xfrm>
            <a:off x="4217406" y="2736502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Unreal Engine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포트폴리오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  <p:sp>
        <p:nvSpPr>
          <p:cNvPr id="5" name="TextBox 4"/>
          <p:cNvSpPr txBox="1"/>
          <p:nvPr/>
        </p:nvSpPr>
        <p:spPr>
          <a:xfrm>
            <a:off x="3674198" y="3105834"/>
            <a:ext cx="4843604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ko-KR" sz="3600" b="1" dirty="0" smtClean="0">
                <a:solidFill>
                  <a:schemeClr val="bg1">
                    <a:lumMod val="95000"/>
                  </a:schemeClr>
                </a:solidFill>
                <a:latin typeface="Open Sans ExtraBold"/>
                <a:ea typeface="Noto Sans KR ExtraBold" panose="020B0200000000000000" pitchFamily="34" charset="-128"/>
              </a:rPr>
              <a:t>SCAVENGER'S EDGE</a:t>
            </a:r>
            <a:endParaRPr lang="ko-KR" altLang="en-US" sz="3600" b="1" dirty="0">
              <a:solidFill>
                <a:schemeClr val="bg1">
                  <a:lumMod val="95000"/>
                </a:schemeClr>
              </a:solidFill>
              <a:latin typeface="Open Sans ExtraBold"/>
              <a:ea typeface="Noto Sans KR ExtraBold" panose="020B0200000000000000" pitchFamily="34" charset="-128"/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217406" y="3779324"/>
            <a:ext cx="375718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DemiLight" panose="020B0200000000000000" pitchFamily="34" charset="-128"/>
                <a:ea typeface="Noto Sans KR DemiLight" panose="020B0200000000000000" pitchFamily="34" charset="-128"/>
              </a:rPr>
              <a:t>김정환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DemiLight" panose="020B0200000000000000" pitchFamily="34" charset="-128"/>
              <a:ea typeface="Noto Sans KR DemiLight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151201048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3">
            <a:extLst>
              <a:ext uri="{BEBA8EAE-BF5A-486C-A8C5-ECC9F3942E4B}">
                <a14:imgProps xmlns:a14="http://schemas.microsoft.com/office/drawing/2010/main">
                  <a14:imgLayer r:embed="rId4">
                    <a14:imgEffect>
                      <a14:brightnessContrast bright="-75000"/>
                    </a14:imgEffect>
                  </a14:imgLayer>
                </a14:imgProps>
              </a:ext>
            </a:extLst>
          </a:blip>
          <a:srcRect l="36818" t="3717"/>
          <a:stretch/>
        </p:blipFill>
        <p:spPr>
          <a:xfrm>
            <a:off x="0" y="0"/>
            <a:ext cx="5963753" cy="7150100"/>
          </a:xfrm>
          <a:prstGeom prst="rect">
            <a:avLst/>
          </a:prstGeom>
        </p:spPr>
      </p:pic>
      <p:sp>
        <p:nvSpPr>
          <p:cNvPr id="2" name="TextBox 1"/>
          <p:cNvSpPr txBox="1"/>
          <p:nvPr/>
        </p:nvSpPr>
        <p:spPr>
          <a:xfrm>
            <a:off x="4155352" y="3198166"/>
            <a:ext cx="1531771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r"/>
            <a:r>
              <a:rPr lang="ko-KR" altLang="en-US" sz="24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  <a:cs typeface="Open Sans ExtraBold" pitchFamily="2" charset="0"/>
              </a:rPr>
              <a:t>목차</a:t>
            </a:r>
            <a:endParaRPr lang="ko-KR" altLang="en-US" sz="24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  <a:cs typeface="Open Sans ExtraBold" pitchFamily="2" charset="0"/>
            </a:endParaRPr>
          </a:p>
        </p:txBody>
      </p:sp>
      <p:sp>
        <p:nvSpPr>
          <p:cNvPr id="3" name="TextBox 2"/>
          <p:cNvSpPr txBox="1"/>
          <p:nvPr/>
        </p:nvSpPr>
        <p:spPr>
          <a:xfrm>
            <a:off x="6240384" y="2172757"/>
            <a:ext cx="2482383" cy="240065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핵심기능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en-US" altLang="ko-KR" sz="12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228600" indent="-228600">
              <a:lnSpc>
                <a:spcPct val="250000"/>
              </a:lnSpc>
              <a:buFont typeface="+mj-lt"/>
              <a:buAutoNum type="arabicPeriod"/>
            </a:pP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48735028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직사각형 8"/>
          <p:cNvSpPr/>
          <p:nvPr/>
        </p:nvSpPr>
        <p:spPr>
          <a:xfrm>
            <a:off x="540000" y="1032837"/>
            <a:ext cx="11112000" cy="3304213"/>
          </a:xfrm>
          <a:prstGeom prst="rect">
            <a:avLst/>
          </a:prstGeom>
          <a:solidFill>
            <a:schemeClr val="tx1">
              <a:lumMod val="95000"/>
              <a:lumOff val="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4376" t="11024" r="5531" b="40886"/>
          <a:stretch/>
        </p:blipFill>
        <p:spPr>
          <a:xfrm>
            <a:off x="540000" y="1032836"/>
            <a:ext cx="11112000" cy="330421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0000" y="4665332"/>
            <a:ext cx="515595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3200" b="1" dirty="0">
                <a:solidFill>
                  <a:schemeClr val="bg1">
                    <a:lumMod val="95000"/>
                  </a:schemeClr>
                </a:solidFill>
                <a:latin typeface="Open Sans ExtraBold" pitchFamily="2" charset="0"/>
                <a:ea typeface="Open Sans ExtraBold" pitchFamily="2" charset="0"/>
                <a:cs typeface="Open Sans ExtraBold" pitchFamily="2" charset="0"/>
              </a:rPr>
              <a:t>SCAVENGER'S EDGE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0000" y="5250107"/>
            <a:ext cx="4347603" cy="101566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장르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RPG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작업기간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65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(26.01.14~26.03.20)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개발인원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툴 및 언어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Visual Studio C++, Unreal Engine 5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96000" y="4665332"/>
            <a:ext cx="5556000" cy="17081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먼 미래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모종의 이유로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문명이 멸망한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포스트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아포칼립스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세계관에서</a:t>
            </a: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위험한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폐허를 떠돌며 자원을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수집해나가는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pPr>
              <a:lnSpc>
                <a:spcPct val="150000"/>
              </a:lnSpc>
            </a:pP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빈딕투스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디파인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페이트를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프로젝트를 진행하며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통한 공격과 스킬 사용을 중점으로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그저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난타하는 것이 아니라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상황에 따라 전략적으로 액션을 취할 수 있도록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>
              <a:lnSpc>
                <a:spcPct val="150000"/>
              </a:lnSpc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액션을 통한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부여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시스템을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 소개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8" name="직선 연결선 1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618157050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게임에서 전역적으로 사용하는 매니저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2003566"/>
            <a:ext cx="11112000" cy="34451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1075085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게임 진행에 관련된 클래스의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12" name="그림 11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9999" y="1777308"/>
            <a:ext cx="11112001" cy="39844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6607428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구조</a:t>
            </a:r>
          </a:p>
        </p:txBody>
      </p:sp>
      <p:cxnSp>
        <p:nvCxnSpPr>
          <p:cNvPr id="38" name="직선 연결선 37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44751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주요 클래스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8" name="직사각형 7"/>
          <p:cNvSpPr/>
          <p:nvPr/>
        </p:nvSpPr>
        <p:spPr>
          <a:xfrm>
            <a:off x="444751" y="1234126"/>
            <a:ext cx="600691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전투 진행에 관련된 클래스들의 구성입니다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9" name="그림 8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90566" y="1870362"/>
            <a:ext cx="9610867" cy="405825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693199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507144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조작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Enhanced Input System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이용하여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이동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회피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단축키 입력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PlayerController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세분화하여 레벨의 성격에 따라 필요한 입력을 처리할 수 있도록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PlayerController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1282743"/>
            <a:ext cx="5235905" cy="2285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1904" y="3683416"/>
            <a:ext cx="5235905" cy="1525242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5824" y="2351697"/>
            <a:ext cx="4238625" cy="1318390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 rotWithShape="1">
          <a:blip r:embed="rId6"/>
          <a:srcRect b="2230"/>
          <a:stretch/>
        </p:blipFill>
        <p:spPr>
          <a:xfrm>
            <a:off x="4198703" y="3805201"/>
            <a:ext cx="2166153" cy="2806913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025"/>
          <a:stretch/>
        </p:blipFill>
        <p:spPr>
          <a:xfrm>
            <a:off x="444752" y="3805201"/>
            <a:ext cx="3679573" cy="205761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32319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802370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스탯과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효과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공격력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관리하는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가진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스택뿐만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아니라 장비와 효과로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체력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게이지과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요소는 일종의 자원으로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요소들은 값 변동과 고갈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이벤트를 발행하여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UI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연동하는 등의 용도로 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자원 중에서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스킬 게이지는 캐릭터의 액션과 함께 사용됩니다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중이지 않다면 천천히 회복되고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소모하여 작동합니다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중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되면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5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천천히 걸으며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회복되지 않는 페널티 기능을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게이지는 전투 중 획득 가능하고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부여된 효과가 스킬 게이지를 소모하여 발동합니다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8"/>
            <a:ext cx="4535066" cy="1810784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2192626"/>
            <a:ext cx="1669262" cy="1907063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440430" y="2192628"/>
            <a:ext cx="2427595" cy="1676792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4166482"/>
            <a:ext cx="4201691" cy="2429579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 rotWithShape="1">
          <a:blip r:embed="rId7"/>
          <a:srcRect l="76583" t="15987" b="11662"/>
          <a:stretch/>
        </p:blipFill>
        <p:spPr>
          <a:xfrm>
            <a:off x="528459" y="3462206"/>
            <a:ext cx="2677196" cy="2965634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 rotWithShape="1">
          <a:blip r:embed="rId8"/>
          <a:srcRect r="14780" b="1662"/>
          <a:stretch/>
        </p:blipFill>
        <p:spPr>
          <a:xfrm>
            <a:off x="3352488" y="3462206"/>
            <a:ext cx="2716763" cy="18527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373934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240065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적용하는 효과 클래스입니다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기능들이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스탯에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준다는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공통점에 착안하여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모든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등록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해제하고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관리하도록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외부에서 직접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접근하는 과정에서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대한 의존성이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발생하지 않도록 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IEffectHandler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ApplyEffect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그리고 새로운 효과를 추가하기 쉽도록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활용했습니다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상위 클래스의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Activate()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구체적인 효과가 실행되도록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TermEffect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 유지되어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동안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PeriodicalEffect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일정 기간 동안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주기마다 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10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동안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적용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EventEffect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액터에게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특정 이벤트가 발생할 때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효과를 부여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예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피격 시 발동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315047"/>
            <a:ext cx="3173406" cy="180679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218519"/>
            <a:ext cx="4121842" cy="2610656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74576" y="4033759"/>
            <a:ext cx="2304511" cy="2610110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4" y="4925853"/>
            <a:ext cx="2229188" cy="1722306"/>
          </a:xfrm>
          <a:prstGeom prst="rect">
            <a:avLst/>
          </a:prstGeom>
        </p:spPr>
      </p:pic>
      <p:pic>
        <p:nvPicPr>
          <p:cNvPr id="10" name="그림 9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4275" y="3753643"/>
            <a:ext cx="5318148" cy="27575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6288901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효과 값을 설정해두기 위한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설정해둔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에셋이나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아이템에 유연하게 할당할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특히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 무기의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컨셉에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맞게 동일한 유형의 효과를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모듈화하고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효과를 여러 액션에서 할당하여 재사용하는 방식으로 사용할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UEffectData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315047"/>
            <a:ext cx="4511210" cy="1820789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2270589"/>
            <a:ext cx="4222975" cy="2175010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8" y="4580352"/>
            <a:ext cx="5093218" cy="164468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2062028"/>
            <a:ext cx="4603499" cy="16362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791805"/>
            <a:ext cx="3152976" cy="2589945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692976" y="3791804"/>
            <a:ext cx="2412751" cy="2252312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723900" y="5422901"/>
            <a:ext cx="2969076" cy="95885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3692976" y="4089285"/>
            <a:ext cx="2412548" cy="55256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460875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327846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액션과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16955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회피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상호작용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등의 애니메이션을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처리하는 컴포넌트입니다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캐릭터의 여러 동작을 하나의 액션으로 모듈화하여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액션과 이어진 액션을 연계하는 기능을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실행에 필요한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직접적인 참조를 피하기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APlayerCharacter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TryUseStamina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바인딩 해주었고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 실행 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호출하여 사용 가능 여부를 확인하는 구조입니다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UPlayerActionComponent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63799" y="2896119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 유형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스매시 공격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각각의 공격 유형의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입력받아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액션들 간에 사전에 설정된 연결 정보를 기반으로 연속적으로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액션이 실행되고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초간 연결된 공격유형에 해당하는 입력이 들어오면 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다음 공격이 실행되는 방식입니다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454275" y="264989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연계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5047"/>
            <a:ext cx="5184913" cy="2799316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2" y="3297445"/>
            <a:ext cx="4516017" cy="3274500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91925" y="3819449"/>
            <a:ext cx="2109574" cy="1270221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6"/>
          <a:srcRect t="10379" b="6643"/>
          <a:stretch/>
        </p:blipFill>
        <p:spPr>
          <a:xfrm>
            <a:off x="3591925" y="5151226"/>
            <a:ext cx="1688484" cy="142071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846240" y="1771649"/>
            <a:ext cx="5005005" cy="1200151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6846239" y="4570965"/>
            <a:ext cx="3993211" cy="4010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8" name="그림 17"/>
          <p:cNvPicPr>
            <a:picLocks noChangeAspect="1"/>
          </p:cNvPicPr>
          <p:nvPr/>
        </p:nvPicPr>
        <p:blipFill rotWithShape="1">
          <a:blip r:embed="rId7"/>
          <a:srcRect r="12551"/>
          <a:stretch/>
        </p:blipFill>
        <p:spPr>
          <a:xfrm>
            <a:off x="1085352" y="3819449"/>
            <a:ext cx="2241300" cy="27524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7400482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178510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액션을 모듈화한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액션으로 실행할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UAnimMontage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몽타주에서 설정한 노티파이를 이용하여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세부적인 동작을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액션의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UAnimNotify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멤버변수 인덱스를 통해 원하는 시점에 수행하는 동작에 대한 데이터에 접근합니다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UAttackNotify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경우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뿐만 아니라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있기 때문에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클래스에 의존하지 않도록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만들어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HandleAttackNotify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구현하여 몽타주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재생 중 정확한 시점의 타격 및 세분화된 공격 동작을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933473"/>
            <a:ext cx="4177047" cy="15435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182326" y="2564475"/>
            <a:ext cx="2675467" cy="1597649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2566653"/>
            <a:ext cx="2419987" cy="943643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79277" y="4467225"/>
            <a:ext cx="8078516" cy="2138195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0000" y="3038475"/>
            <a:ext cx="2976512" cy="3566945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647700" y="4343400"/>
            <a:ext cx="2868812" cy="91440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9" name="꺾인 연결선 18"/>
          <p:cNvCxnSpPr>
            <a:stCxn id="18" idx="3"/>
            <a:endCxn id="14" idx="1"/>
          </p:cNvCxnSpPr>
          <p:nvPr/>
        </p:nvCxnSpPr>
        <p:spPr>
          <a:xfrm>
            <a:off x="3516512" y="4800600"/>
            <a:ext cx="262765" cy="735723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36683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진행하는 과정에서 효과를 적용할 수 있도록 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원하는 시점에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UEffectData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할당하여 효과를 적용할 수 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액션에서 효과를 적용하는 시점을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4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가지로 설정해두고 각각의 시점에서 할당한 효과를 적용시킵니다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860544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액션 실행 중 효과 발동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63799" y="4003279"/>
            <a:ext cx="565124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캐릭터가 사용하는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연계에 대한 정보를 담은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간의 연결은 인접리스트를 이용한 그래프로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3757058"/>
            <a:ext cx="331795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UActionComboData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30762" y="591272"/>
            <a:ext cx="4666974" cy="2886788"/>
          </a:xfrm>
          <a:prstGeom prst="rect">
            <a:avLst/>
          </a:prstGeom>
        </p:spPr>
      </p:pic>
      <p:pic>
        <p:nvPicPr>
          <p:cNvPr id="16" name="그림 15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40286" y="3630813"/>
            <a:ext cx="4177258" cy="3028871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1737137"/>
            <a:ext cx="2577303" cy="186603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6"/>
          <a:srcRect r="5586"/>
          <a:stretch/>
        </p:blipFill>
        <p:spPr>
          <a:xfrm>
            <a:off x="3117302" y="1734708"/>
            <a:ext cx="3045373" cy="1868463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7"/>
          <a:srcRect b="10529"/>
          <a:stretch/>
        </p:blipFill>
        <p:spPr>
          <a:xfrm>
            <a:off x="539999" y="4485288"/>
            <a:ext cx="2485123" cy="2172687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17302" y="4485289"/>
            <a:ext cx="1783774" cy="2029812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993256" y="4485288"/>
            <a:ext cx="1740551" cy="2172687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3295120" y="4803497"/>
            <a:ext cx="1605956" cy="72100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0" name="직사각형 19"/>
          <p:cNvSpPr/>
          <p:nvPr/>
        </p:nvSpPr>
        <p:spPr>
          <a:xfrm>
            <a:off x="662784" y="4792234"/>
            <a:ext cx="2362337" cy="398892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20" idx="3"/>
            <a:endCxn id="18" idx="1"/>
          </p:cNvCxnSpPr>
          <p:nvPr/>
        </p:nvCxnSpPr>
        <p:spPr>
          <a:xfrm>
            <a:off x="3025121" y="4991680"/>
            <a:ext cx="269999" cy="172319"/>
          </a:xfrm>
          <a:prstGeom prst="bentConnector3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4" name="직사각형 23"/>
          <p:cNvSpPr/>
          <p:nvPr/>
        </p:nvSpPr>
        <p:spPr>
          <a:xfrm>
            <a:off x="5060552" y="4803497"/>
            <a:ext cx="1673253" cy="1854478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18" idx="3"/>
            <a:endCxn id="24" idx="1"/>
          </p:cNvCxnSpPr>
          <p:nvPr/>
        </p:nvCxnSpPr>
        <p:spPr>
          <a:xfrm>
            <a:off x="4901076" y="5163999"/>
            <a:ext cx="159476" cy="566737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77144845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1468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기능 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: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본래 가진 액션의 성능을 강화하거나 새로운 액션 연계를 얻는 방식으로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성장은 스킬 포인트는 스테이지를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얻은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레벨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업할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때 얻을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이렇게 얻은 스킬 포인트로 미리 설정된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스킬트리에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따라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원하는대로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육성할 수 있도록 개발했습니다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스킬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7" name="직사각형 6"/>
          <p:cNvSpPr/>
          <p:nvPr/>
        </p:nvSpPr>
        <p:spPr>
          <a:xfrm>
            <a:off x="454275" y="2280566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스킬의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적용은 플레이어의 선택에 따라 동적이기 때문에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UPlayerActionComponent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한 차례 감싼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UActionInstance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클래스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사용하고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기본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설정값과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함께 스킬 성장으로 인해 얻은 값이나 추가적인 효과를 동적으로 처리했습니다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44751" y="2034345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UActionInstance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3080785"/>
            <a:ext cx="5651249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강화를 나타내는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해당 강화를 선택하면 지정된 액션에 강화 내용이 반영됩니다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다형성을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이용하여 상위 클래스에서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AdjustSkillNode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호출하면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하위 클래스에서 재정의한 내용을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반영하는 식으로 구조화했습니다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주요 하위 클래스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USkillNodeUnlockAction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액션의 연계를 해금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액션이 기존에 가진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버프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디버프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수치를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USkillNodeExtendEffect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액션에 새로운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추가하는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기능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USkillNodeModifySpec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: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데미지량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스태미너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소모량 등을 변경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283456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USkillUpgrade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66333" y="314231"/>
            <a:ext cx="4216071" cy="3565236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4937" y="3957826"/>
            <a:ext cx="3717499" cy="2501587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0001" y="4773310"/>
            <a:ext cx="5079750" cy="17231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022415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5" name="직사각형 14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선택할 수 있는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트리 형태로 설정한 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강화할 액션의 내용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 소모량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강화 내용으로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구성하고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연결될 자식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노드들을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설정하여 트리 형태 구조로 설정했습니다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8" name="직사각형 17"/>
          <p:cNvSpPr/>
          <p:nvPr/>
        </p:nvSpPr>
        <p:spPr>
          <a:xfrm>
            <a:off x="444751" y="860544"/>
            <a:ext cx="2760904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USkillTreeData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56807" y="315047"/>
            <a:ext cx="4161365" cy="6157822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4"/>
          <a:srcRect l="20021" r="44487"/>
          <a:stretch/>
        </p:blipFill>
        <p:spPr>
          <a:xfrm>
            <a:off x="539999" y="1781254"/>
            <a:ext cx="2519856" cy="2082456"/>
          </a:xfrm>
          <a:prstGeom prst="rect">
            <a:avLst/>
          </a:prstGeom>
        </p:spPr>
      </p:pic>
      <p:pic>
        <p:nvPicPr>
          <p:cNvPr id="7" name="그림 6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9999" y="3958118"/>
            <a:ext cx="2600125" cy="2652232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18000" y="2362640"/>
            <a:ext cx="2935652" cy="4247710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662785" y="2457450"/>
            <a:ext cx="956466" cy="94667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7" name="직사각형 16"/>
          <p:cNvSpPr/>
          <p:nvPr/>
        </p:nvSpPr>
        <p:spPr>
          <a:xfrm>
            <a:off x="748510" y="5684519"/>
            <a:ext cx="1578787" cy="78834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1" name="꺾인 연결선 20"/>
          <p:cNvCxnSpPr>
            <a:stCxn id="16" idx="1"/>
            <a:endCxn id="17" idx="1"/>
          </p:cNvCxnSpPr>
          <p:nvPr/>
        </p:nvCxnSpPr>
        <p:spPr>
          <a:xfrm rot="10800000" flipH="1" flipV="1">
            <a:off x="662784" y="2930784"/>
            <a:ext cx="85725" cy="3147909"/>
          </a:xfrm>
          <a:prstGeom prst="bentConnector3">
            <a:avLst>
              <a:gd name="adj1" fmla="val -266667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2095500" y="2501900"/>
            <a:ext cx="600075" cy="833099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3" name="직사각형 22"/>
          <p:cNvSpPr/>
          <p:nvPr/>
        </p:nvSpPr>
        <p:spPr>
          <a:xfrm>
            <a:off x="3611139" y="4094462"/>
            <a:ext cx="1684762" cy="34418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4" name="꺾인 연결선 23"/>
          <p:cNvCxnSpPr>
            <a:stCxn id="22" idx="3"/>
            <a:endCxn id="23" idx="1"/>
          </p:cNvCxnSpPr>
          <p:nvPr/>
        </p:nvCxnSpPr>
        <p:spPr>
          <a:xfrm>
            <a:off x="2695575" y="2918450"/>
            <a:ext cx="915564" cy="134810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5" name="직사각형 24"/>
          <p:cNvSpPr/>
          <p:nvPr/>
        </p:nvSpPr>
        <p:spPr>
          <a:xfrm>
            <a:off x="3700931" y="5746196"/>
            <a:ext cx="1594970" cy="864153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6" name="직사각형 25"/>
          <p:cNvSpPr/>
          <p:nvPr/>
        </p:nvSpPr>
        <p:spPr>
          <a:xfrm>
            <a:off x="2095500" y="3429407"/>
            <a:ext cx="819345" cy="39422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7" name="꺾인 연결선 26"/>
          <p:cNvCxnSpPr>
            <a:endCxn id="25" idx="1"/>
          </p:cNvCxnSpPr>
          <p:nvPr/>
        </p:nvCxnSpPr>
        <p:spPr>
          <a:xfrm rot="16200000" flipH="1">
            <a:off x="1941046" y="4418388"/>
            <a:ext cx="2354646" cy="1165124"/>
          </a:xfrm>
          <a:prstGeom prst="bentConnector2">
            <a:avLst/>
          </a:prstGeom>
          <a:ln w="12700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2455537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219483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플레이어 데이터 저장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플레이어의 레벨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경험치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보유한 재화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정보등을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저장합니다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실질적인 저장 동작은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USaveLoadManager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만들었고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ISaveLoadHandler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인터페이스를 이용해서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 데이터 외에도 다른 정보들을 저장하고 불러올 수 있도록 구조화했습니다</a:t>
            </a:r>
            <a:r>
              <a:rPr lang="en-US" altLang="ko-KR" sz="100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ko-KR" altLang="en-US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444255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상속한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UPlayerSaveGame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6" name="그림 1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315047"/>
            <a:ext cx="4367440" cy="2446576"/>
          </a:xfrm>
          <a:prstGeom prst="rect">
            <a:avLst/>
          </a:prstGeom>
        </p:spPr>
      </p:pic>
      <p:pic>
        <p:nvPicPr>
          <p:cNvPr id="18" name="그림 17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4689917"/>
            <a:ext cx="5252378" cy="1908090"/>
          </a:xfrm>
          <a:prstGeom prst="rect">
            <a:avLst/>
          </a:prstGeom>
        </p:spPr>
      </p:pic>
      <p:pic>
        <p:nvPicPr>
          <p:cNvPr id="19" name="그림 18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75857" y="2944033"/>
            <a:ext cx="4800600" cy="1563474"/>
          </a:xfrm>
          <a:prstGeom prst="rect">
            <a:avLst/>
          </a:prstGeom>
        </p:spPr>
      </p:pic>
      <p:pic>
        <p:nvPicPr>
          <p:cNvPr id="12" name="그림 11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5395026"/>
            <a:ext cx="2886075" cy="1202981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499853" y="4062723"/>
            <a:ext cx="2886075" cy="1183078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062723"/>
            <a:ext cx="2876550" cy="1354897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40000" y="2183570"/>
            <a:ext cx="5555999" cy="1687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6766479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2246769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 및 구현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ACharacter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IEffectable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IHitable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IAttackNotifyHander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상속하고 구현하고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UStatComponent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동일하게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기능과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영향을 받을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MonsterActionComponent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다르게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콤보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연계의 기능이 필요 없으므로 간략한 형태로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BT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릁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통해서 입력된 공격 액션을 수행합니다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MonsterConfig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MonsterData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경우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외형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액션은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데이터에셋으로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스탯은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데이터테이블을 통해서 구성하도록 구조화했습니다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데이터테이블의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ID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가지고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던전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구성할 수 있도록 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공통사항과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88512" y="315046"/>
            <a:ext cx="3438137" cy="28406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7" name="Picture 3" descr="C:\Users\B-05\Downloads\carbon (1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88513" y="3215268"/>
            <a:ext cx="2685662" cy="304759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 descr="C:\Users\B-05\Downloads\carbon (2).png"/>
          <p:cNvPicPr>
            <a:picLocks noChangeAspect="1" noChangeArrowheads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9344025" y="3215268"/>
            <a:ext cx="2508041" cy="341498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759100"/>
            <a:ext cx="5556000" cy="275819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7290942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10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활용하여 행동 양식을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5" y="1234126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051" name="Picture 3"/>
          <p:cNvPicPr>
            <a:picLocks noChangeAspect="1" noChangeArrowheads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 bwMode="auto">
          <a:xfrm>
            <a:off x="6599094" y="3005576"/>
            <a:ext cx="4759355" cy="352857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53" name="Picture 5" descr="C:\Users\B-05\Downloads\carbon (7).png"/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599095" y="302801"/>
            <a:ext cx="4915976" cy="26184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직사각형 11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UFindPlayerService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 마다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SphereTrace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주변을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탐색하고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적을 발견하면 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1099" y="2859462"/>
            <a:ext cx="565124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범위 내일 때 공격합니다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UBTTask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상속한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UAttackTask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가진 액션 중 랜덤으로 공격 액션을 수행하도록 구현했습니다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추적 불가한 경우 일정 시간 동안 적에게 다가가지 못하는 상황일 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다시 일반 상태로 복귀합니다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5" name="직사각형 14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5"/>
          <a:srcRect r="10361"/>
          <a:stretch/>
        </p:blipFill>
        <p:spPr>
          <a:xfrm>
            <a:off x="451100" y="3721236"/>
            <a:ext cx="3158876" cy="2781067"/>
          </a:xfrm>
          <a:prstGeom prst="rect">
            <a:avLst/>
          </a:prstGeom>
        </p:spPr>
      </p:pic>
      <p:pic>
        <p:nvPicPr>
          <p:cNvPr id="17" name="그림 16"/>
          <p:cNvPicPr>
            <a:picLocks noChangeAspect="1"/>
          </p:cNvPicPr>
          <p:nvPr/>
        </p:nvPicPr>
        <p:blipFill rotWithShape="1">
          <a:blip r:embed="rId6"/>
          <a:srcRect l="5189" r="9276"/>
          <a:stretch/>
        </p:blipFill>
        <p:spPr>
          <a:xfrm>
            <a:off x="3655290" y="3721236"/>
            <a:ext cx="2898490" cy="203186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58747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직사각형 6"/>
          <p:cNvSpPr/>
          <p:nvPr/>
        </p:nvSpPr>
        <p:spPr>
          <a:xfrm>
            <a:off x="463799" y="1480347"/>
            <a:ext cx="56512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같이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BehaviorTree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활용했으며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행동에 관련하여 추가적인 작업을 수행했습니다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234126"/>
            <a:ext cx="5528666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BehaviorTree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710906"/>
            <a:ext cx="1295547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보스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몬스터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1099" y="2059243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주변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랜덤한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곳을 돌아다니며 탐색합니다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동일하게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FindPlayer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이용하여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초마다 주변을 탐색하고 플레이어 발견하면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상태로 전환합니다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2" name="직사각형 11"/>
          <p:cNvSpPr/>
          <p:nvPr/>
        </p:nvSpPr>
        <p:spPr>
          <a:xfrm>
            <a:off x="454275" y="1813022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일반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1099" y="2859462"/>
            <a:ext cx="5651249" cy="7078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플레이어와의 거리에 따라 근접 공격이 가능한지 확인합니다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불가한 경우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타겟에게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다가가며 원거리 공격으로 견제합니다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근접 공격이 가능하면 일반 공격 중 랜덤으로 한 개를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포인트가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10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이상 모이면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454275" y="2613241"/>
            <a:ext cx="537692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공격 상태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567348"/>
            <a:ext cx="4573730" cy="1449630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851781"/>
            <a:ext cx="4781550" cy="2414924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2853" y="3648075"/>
            <a:ext cx="5622531" cy="28138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360655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2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직사각형 9"/>
          <p:cNvSpPr/>
          <p:nvPr/>
        </p:nvSpPr>
        <p:spPr>
          <a:xfrm>
            <a:off x="454275" y="1106765"/>
            <a:ext cx="565124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있도록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공격 몽타주에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GimicNotify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설정하여 특정한 종류의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수행할 수 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각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액션을 파훼하면 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몬스터는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일시적으로 그로기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 종류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카운터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정면으로 이동하며 공격합니다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정면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(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기준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120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도 이내 방향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스매시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공격 시 파훼 가능합니다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pPr marL="171450" indent="-171450">
              <a:buFontTx/>
              <a:buChar char="-"/>
            </a:pP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보스가 일정 시간 동안 무력화 가능 상태가 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게이지를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으로 만들지 못하면 일정 시간 후 매우 강력한 공격을 실행합니다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444751" y="860544"/>
            <a:ext cx="138404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수행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321428"/>
            <a:ext cx="3752063" cy="1403444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6" y="1825017"/>
            <a:ext cx="3785240" cy="220356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4128731"/>
            <a:ext cx="4469825" cy="249114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 rotWithShape="1">
          <a:blip r:embed="rId6"/>
          <a:srcRect t="1719" r="9584" b="17304"/>
          <a:stretch/>
        </p:blipFill>
        <p:spPr>
          <a:xfrm>
            <a:off x="540000" y="2705099"/>
            <a:ext cx="5556000" cy="1482842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 rotWithShape="1">
          <a:blip r:embed="rId7"/>
          <a:srcRect l="18814" t="75574" r="16258" b="694"/>
          <a:stretch/>
        </p:blipFill>
        <p:spPr>
          <a:xfrm>
            <a:off x="540000" y="5325686"/>
            <a:ext cx="4162424" cy="1031766"/>
          </a:xfrm>
          <a:prstGeom prst="rect">
            <a:avLst/>
          </a:prstGeom>
        </p:spPr>
      </p:pic>
      <p:pic>
        <p:nvPicPr>
          <p:cNvPr id="9" name="그림 8"/>
          <p:cNvPicPr>
            <a:picLocks noChangeAspect="1"/>
          </p:cNvPicPr>
          <p:nvPr/>
        </p:nvPicPr>
        <p:blipFill rotWithShape="1">
          <a:blip r:embed="rId8"/>
          <a:srcRect r="25218"/>
          <a:stretch/>
        </p:blipFill>
        <p:spPr>
          <a:xfrm>
            <a:off x="539999" y="4308947"/>
            <a:ext cx="2042805" cy="895733"/>
          </a:xfrm>
          <a:prstGeom prst="rect">
            <a:avLst/>
          </a:prstGeom>
        </p:spPr>
      </p:pic>
      <p:pic>
        <p:nvPicPr>
          <p:cNvPr id="11" name="그림 10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716624" y="4308947"/>
            <a:ext cx="2176300" cy="895733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1224760" y="5570220"/>
            <a:ext cx="2747165" cy="201930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4697768" y="5325686"/>
            <a:ext cx="1482476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기믹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</a:t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무력화 게이지 활성화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82892007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4" name="직사각형 3"/>
          <p:cNvSpPr/>
          <p:nvPr/>
        </p:nvSpPr>
        <p:spPr>
          <a:xfrm>
            <a:off x="454275" y="710906"/>
            <a:ext cx="10310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스테이지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" name="직사각형 8"/>
          <p:cNvSpPr/>
          <p:nvPr/>
        </p:nvSpPr>
        <p:spPr>
          <a:xfrm>
            <a:off x="454275" y="1480347"/>
            <a:ext cx="5651249" cy="193899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StageData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스테이지에 사용할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정보와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보상 정보를 데이터테이블로 만들어두었습니다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스테이지는 몇 개의 구역으로 구성되어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구역을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클리어하면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스테이지 종료됩니다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레벨 배치되어 있고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부여하여 각각의 구역을 표시합니다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플레이어가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들어서면 설정된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Index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통해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생성합니다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생성된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모두 쓰러뜨리면 해당 구역이 완료됩니다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레벨에서 생성할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몬스터들은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각 구역에서 새로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스폰하지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않고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게임시작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UObjectPoolManager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등록하여 재사용합니다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44751" y="1234126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레벨과 스테이지 데이터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99095" y="3023438"/>
            <a:ext cx="5049979" cy="3463414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9" y="315047"/>
            <a:ext cx="1562100" cy="765933"/>
          </a:xfrm>
          <a:prstGeom prst="rect">
            <a:avLst/>
          </a:prstGeom>
        </p:spPr>
      </p:pic>
      <p:pic>
        <p:nvPicPr>
          <p:cNvPr id="6" name="그림 5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08618" y="1151668"/>
            <a:ext cx="4550607" cy="1801082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0000" y="3665560"/>
            <a:ext cx="2565149" cy="2709957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 rotWithShape="1">
          <a:blip r:embed="rId7"/>
          <a:srcRect l="45483"/>
          <a:stretch/>
        </p:blipFill>
        <p:spPr>
          <a:xfrm>
            <a:off x="3228518" y="3665560"/>
            <a:ext cx="2877006" cy="25748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523294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직사각형 35"/>
          <p:cNvSpPr/>
          <p:nvPr/>
        </p:nvSpPr>
        <p:spPr>
          <a:xfrm>
            <a:off x="454275" y="315047"/>
            <a:ext cx="564172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핵심 기능 </a:t>
            </a:r>
            <a:r>
              <a:rPr lang="en-US" altLang="ko-KR" sz="12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3</a:t>
            </a:r>
            <a:r>
              <a:rPr lang="en-US" altLang="ko-KR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</a:t>
            </a:r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40000" y="710906"/>
            <a:ext cx="5556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그림 5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4156316"/>
            <a:ext cx="3436393" cy="2523679"/>
          </a:xfrm>
          <a:prstGeom prst="rect">
            <a:avLst/>
          </a:prstGeom>
        </p:spPr>
      </p:pic>
      <p:pic>
        <p:nvPicPr>
          <p:cNvPr id="13" name="그림 12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315047"/>
            <a:ext cx="3754578" cy="1222797"/>
          </a:xfrm>
          <a:prstGeom prst="rect">
            <a:avLst/>
          </a:prstGeom>
        </p:spPr>
      </p:pic>
      <p:pic>
        <p:nvPicPr>
          <p:cNvPr id="14" name="그림 1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1" y="1586409"/>
            <a:ext cx="2800940" cy="1222228"/>
          </a:xfrm>
          <a:prstGeom prst="rect">
            <a:avLst/>
          </a:prstGeom>
        </p:spPr>
      </p:pic>
      <p:pic>
        <p:nvPicPr>
          <p:cNvPr id="15" name="그림 14"/>
          <p:cNvPicPr>
            <a:picLocks noChangeAspect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128640" y="2857202"/>
            <a:ext cx="3704280" cy="1250549"/>
          </a:xfrm>
          <a:prstGeom prst="rect">
            <a:avLst/>
          </a:prstGeom>
        </p:spPr>
      </p:pic>
      <p:sp>
        <p:nvSpPr>
          <p:cNvPr id="16" name="직사각형 15"/>
          <p:cNvSpPr/>
          <p:nvPr/>
        </p:nvSpPr>
        <p:spPr>
          <a:xfrm>
            <a:off x="454275" y="1106765"/>
            <a:ext cx="5651249" cy="55399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진행은 발행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구독 모델을 확장한 이벤트 버스 방식으로 구조를 잡았습니다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같은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액터들이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게임 진행에 직접적 관여하지 않도록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통한 이벤트 기반으로 작업했습니다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7" name="직사각형 16"/>
          <p:cNvSpPr/>
          <p:nvPr/>
        </p:nvSpPr>
        <p:spPr>
          <a:xfrm>
            <a:off x="444751" y="860544"/>
            <a:ext cx="2427758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이벤트 기반 진행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1908492"/>
            <a:ext cx="1662324" cy="1144130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44751" y="1666283"/>
            <a:ext cx="2536575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진행에 발생하는 이벤트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종류</a:t>
            </a:r>
          </a:p>
        </p:txBody>
      </p:sp>
      <p:sp>
        <p:nvSpPr>
          <p:cNvPr id="19" name="직사각형 18"/>
          <p:cNvSpPr/>
          <p:nvPr/>
        </p:nvSpPr>
        <p:spPr>
          <a:xfrm>
            <a:off x="460380" y="3085534"/>
            <a:ext cx="5645144" cy="101566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정보 같이 진행에 필요한 주된 데이터는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관리합니다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사망 이벤트를 구독해두고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몬스터가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죽으면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카운트를 낮춥니다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카운트가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0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이되면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해당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StageSection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은 구역 완료 이벤트를 발행합니다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구역 완료 이벤트가 발행되면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GameState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해당 구역을 완료처리하고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모든 구역이 완료되면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GameMode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에서 게임을 완료처리 합니다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5" name="그림 4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0000" y="4373274"/>
            <a:ext cx="5194981" cy="2103726"/>
          </a:xfrm>
          <a:prstGeom prst="rect">
            <a:avLst/>
          </a:prstGeom>
        </p:spPr>
      </p:pic>
      <p:sp>
        <p:nvSpPr>
          <p:cNvPr id="20" name="직사각형 19"/>
          <p:cNvSpPr/>
          <p:nvPr/>
        </p:nvSpPr>
        <p:spPr>
          <a:xfrm>
            <a:off x="7301710" y="926444"/>
            <a:ext cx="3581508" cy="497937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1" name="직사각형 20"/>
          <p:cNvSpPr/>
          <p:nvPr/>
        </p:nvSpPr>
        <p:spPr>
          <a:xfrm>
            <a:off x="7301710" y="2483497"/>
            <a:ext cx="1146965" cy="22288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직사각형 21"/>
          <p:cNvSpPr/>
          <p:nvPr/>
        </p:nvSpPr>
        <p:spPr>
          <a:xfrm>
            <a:off x="7301710" y="3683584"/>
            <a:ext cx="2627871" cy="34215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5" name="꺾인 연결선 24"/>
          <p:cNvCxnSpPr>
            <a:stCxn id="20" idx="3"/>
            <a:endCxn id="14" idx="3"/>
          </p:cNvCxnSpPr>
          <p:nvPr/>
        </p:nvCxnSpPr>
        <p:spPr>
          <a:xfrm flipH="1">
            <a:off x="9929581" y="1175413"/>
            <a:ext cx="953637" cy="1022110"/>
          </a:xfrm>
          <a:prstGeom prst="bentConnector3">
            <a:avLst>
              <a:gd name="adj1" fmla="val -239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7" name="꺾인 연결선 26"/>
          <p:cNvCxnSpPr>
            <a:stCxn id="21" idx="3"/>
            <a:endCxn id="15" idx="0"/>
          </p:cNvCxnSpPr>
          <p:nvPr/>
        </p:nvCxnSpPr>
        <p:spPr>
          <a:xfrm>
            <a:off x="8448675" y="2594940"/>
            <a:ext cx="532105" cy="262262"/>
          </a:xfrm>
          <a:prstGeom prst="bentConnector2">
            <a:avLst/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1" name="직사각형 50"/>
          <p:cNvSpPr/>
          <p:nvPr/>
        </p:nvSpPr>
        <p:spPr>
          <a:xfrm>
            <a:off x="7317671" y="5855284"/>
            <a:ext cx="2627871" cy="720776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53" name="꺾인 연결선 52"/>
          <p:cNvCxnSpPr>
            <a:stCxn id="22" idx="3"/>
            <a:endCxn id="51" idx="3"/>
          </p:cNvCxnSpPr>
          <p:nvPr/>
        </p:nvCxnSpPr>
        <p:spPr>
          <a:xfrm>
            <a:off x="9929581" y="3854662"/>
            <a:ext cx="15961" cy="2361010"/>
          </a:xfrm>
          <a:prstGeom prst="bentConnector3">
            <a:avLst>
              <a:gd name="adj1" fmla="val 7452171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7697633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2776722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랜드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스케이프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적용 후 에러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9" name="직사각형 8"/>
          <p:cNvSpPr/>
          <p:nvPr/>
        </p:nvSpPr>
        <p:spPr>
          <a:xfrm>
            <a:off x="454275" y="2988450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454275" y="1480347"/>
            <a:ext cx="8755039" cy="4001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플레이어와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기반 기능 구현 후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가지고 레벨을 만들어 테스트하던 도중 에러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454274" y="3234671"/>
            <a:ext cx="8755039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FActorSpawnParameters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SpawnCollisionHandlingOverride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설정을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AlwaysSpawn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을 변경 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해결했습니다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454274" y="1880455"/>
            <a:ext cx="4833342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원인 분석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454274" y="2126676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최초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반환되어 에러가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 테스트에 쓰던 레벨에선 발생하지 않는 것을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확인했고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새로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작업 중인 레벨과의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차이점은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사용 유무임을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스케이프에서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일반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스태틱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메쉬와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높이와 충돌 문제가 있음을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기존에 쓰던 평평한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메시에서와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달리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Z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축 높이 차이와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랜드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스케이프와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충돌로 인해서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스폰이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 처리되어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nullptr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반환되었습니다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55206" y="3727114"/>
            <a:ext cx="4803319" cy="2617348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3727113"/>
            <a:ext cx="4715416" cy="2056478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54274" y="5926358"/>
            <a:ext cx="5632201" cy="427271"/>
          </a:xfrm>
          <a:prstGeom prst="rect">
            <a:avLst/>
          </a:prstGeom>
        </p:spPr>
      </p:pic>
      <p:sp>
        <p:nvSpPr>
          <p:cNvPr id="15" name="직사각형 14"/>
          <p:cNvSpPr/>
          <p:nvPr/>
        </p:nvSpPr>
        <p:spPr>
          <a:xfrm>
            <a:off x="979179" y="4476750"/>
            <a:ext cx="408812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직사각형 15"/>
          <p:cNvSpPr/>
          <p:nvPr/>
        </p:nvSpPr>
        <p:spPr>
          <a:xfrm>
            <a:off x="379104" y="5849480"/>
            <a:ext cx="5707371" cy="5810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18" name="꺾인 연결선 17"/>
          <p:cNvCxnSpPr>
            <a:stCxn id="15" idx="3"/>
            <a:endCxn id="16" idx="0"/>
          </p:cNvCxnSpPr>
          <p:nvPr/>
        </p:nvCxnSpPr>
        <p:spPr>
          <a:xfrm flipH="1">
            <a:off x="3232790" y="4767263"/>
            <a:ext cx="1834510" cy="1082217"/>
          </a:xfrm>
          <a:prstGeom prst="bentConnector4">
            <a:avLst>
              <a:gd name="adj1" fmla="val -12461"/>
              <a:gd name="adj2" fmla="val 6342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직사각형 20"/>
          <p:cNvSpPr/>
          <p:nvPr/>
        </p:nvSpPr>
        <p:spPr>
          <a:xfrm>
            <a:off x="6781800" y="4464839"/>
            <a:ext cx="3838576" cy="43182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7436049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1072730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문제 발생과 원인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86177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몬스터의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등장 연출을 위해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이용한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컷씬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작업 후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에디터를 통한 테스트 이후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테스트를 진행하다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확인했습니다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에러 로그를 살펴보니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DataManager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초기화 중 스테이지 데이터 테이블을 참조하는 과정에서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스테이지 데이터테이블에서 레벨 시퀀스를 참조하고 있고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시퀀스에서 사용하는 특정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액터가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아직 등록되지 않아 문제가 발생했습니다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2" name="그림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4103869"/>
            <a:ext cx="7921244" cy="1036773"/>
          </a:xfrm>
          <a:prstGeom prst="rect">
            <a:avLst/>
          </a:prstGeom>
        </p:spPr>
      </p:pic>
      <p:pic>
        <p:nvPicPr>
          <p:cNvPr id="3" name="그림 2"/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5449706"/>
            <a:ext cx="9658861" cy="601657"/>
          </a:xfrm>
          <a:prstGeom prst="rect">
            <a:avLst/>
          </a:prstGeom>
        </p:spPr>
      </p:pic>
      <p:pic>
        <p:nvPicPr>
          <p:cNvPr id="4" name="그림 3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9999" y="2501331"/>
            <a:ext cx="2946150" cy="1408086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667454" y="4552950"/>
            <a:ext cx="7793790" cy="4476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3" idx="0"/>
          </p:cNvCxnSpPr>
          <p:nvPr/>
        </p:nvCxnSpPr>
        <p:spPr>
          <a:xfrm flipH="1">
            <a:off x="5369430" y="4776788"/>
            <a:ext cx="3091814" cy="672918"/>
          </a:xfrm>
          <a:prstGeom prst="bentConnector4">
            <a:avLst>
              <a:gd name="adj1" fmla="val -7394"/>
              <a:gd name="adj2" fmla="val 66632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0043958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트러블슈팅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3066865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레벨 시퀀스 적용 후</a:t>
            </a: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</a:t>
            </a:r>
            <a:r>
              <a:rPr lang="ko-KR" altLang="en-US" dirty="0" err="1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빌드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 에러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454275" y="1234126"/>
            <a:ext cx="688009" cy="246221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해결 방법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454275" y="1480347"/>
            <a:ext cx="8755039" cy="14773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등록되지 않았다는 로그를 보고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발생했다고 생각했습니다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세팅에서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패키징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특정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반드시 포함하도록 설정하고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빌드를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그럼에도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빌드는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실패했고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동일한 에러 로그가 출력됐습니다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누락이 아니라면 데이터테이블에서 레벨 시퀀스를 직접 참조하기 때문에 발생한 것이라 판단했고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검증을 위해서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데이터테이블에서 레벨 시퀀스를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 아닌 </a:t>
            </a:r>
            <a:r>
              <a:rPr lang="en-US" altLang="ko-KR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TSoftObjectPtr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 변경했습니다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 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하드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-&gt;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소프트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레퍼런스로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)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그 후 다시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빌드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시도에서 성공한 것을 확인했습니다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레벨 시퀀스를 사용하는 부분에서 레벨 시퀀스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에셋을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비동기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err="1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로드하도록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변경 후 사용하는 것으로 문제를 해결했습니다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4" name="그림 3"/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292051" y="3203896"/>
            <a:ext cx="5297928" cy="1995405"/>
          </a:xfrm>
          <a:prstGeom prst="rect">
            <a:avLst/>
          </a:prstGeom>
        </p:spPr>
      </p:pic>
      <p:pic>
        <p:nvPicPr>
          <p:cNvPr id="5" name="그림 4"/>
          <p:cNvPicPr>
            <a:picLocks noChangeAspect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40000" y="3203897"/>
            <a:ext cx="4133850" cy="1995405"/>
          </a:xfrm>
          <a:prstGeom prst="rect">
            <a:avLst/>
          </a:prstGeom>
        </p:spPr>
      </p:pic>
      <p:sp>
        <p:nvSpPr>
          <p:cNvPr id="17" name="직사각형 16"/>
          <p:cNvSpPr/>
          <p:nvPr/>
        </p:nvSpPr>
        <p:spPr>
          <a:xfrm>
            <a:off x="819853" y="4629806"/>
            <a:ext cx="3742621" cy="295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8" name="직사각형 17"/>
          <p:cNvSpPr/>
          <p:nvPr/>
        </p:nvSpPr>
        <p:spPr>
          <a:xfrm>
            <a:off x="5582353" y="4334530"/>
            <a:ext cx="4914197" cy="676275"/>
          </a:xfrm>
          <a:prstGeom prst="rect">
            <a:avLst/>
          </a:prstGeom>
          <a:noFill/>
          <a:ln w="19050">
            <a:solidFill>
              <a:schemeClr val="accent5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20" name="꺾인 연결선 19"/>
          <p:cNvCxnSpPr>
            <a:stCxn id="17" idx="3"/>
            <a:endCxn id="18" idx="1"/>
          </p:cNvCxnSpPr>
          <p:nvPr/>
        </p:nvCxnSpPr>
        <p:spPr>
          <a:xfrm flipV="1">
            <a:off x="4562474" y="4672668"/>
            <a:ext cx="1019879" cy="104776"/>
          </a:xfrm>
          <a:prstGeom prst="bentConnector3">
            <a:avLst>
              <a:gd name="adj1" fmla="val 50000"/>
            </a:avLst>
          </a:prstGeom>
          <a:ln w="12700">
            <a:solidFill>
              <a:schemeClr val="accent5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974430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직사각형 11"/>
          <p:cNvSpPr/>
          <p:nvPr/>
        </p:nvSpPr>
        <p:spPr>
          <a:xfrm>
            <a:off x="454275" y="315047"/>
            <a:ext cx="3152775" cy="395859"/>
          </a:xfrm>
          <a:prstGeom prst="rect">
            <a:avLst/>
          </a:prstGeom>
          <a:noFill/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ko-KR" altLang="en-US" sz="12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보완점 및 </a:t>
            </a:r>
            <a:r>
              <a:rPr lang="ko-KR" altLang="en-US" sz="12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반성점</a:t>
            </a:r>
            <a:endParaRPr lang="ko-KR" altLang="en-US" sz="12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cxnSp>
        <p:nvCxnSpPr>
          <p:cNvPr id="19" name="직선 연결선 18"/>
          <p:cNvCxnSpPr/>
          <p:nvPr/>
        </p:nvCxnSpPr>
        <p:spPr>
          <a:xfrm>
            <a:off x="540000" y="710906"/>
            <a:ext cx="11112000" cy="0"/>
          </a:xfrm>
          <a:prstGeom prst="line">
            <a:avLst/>
          </a:prstGeom>
          <a:ln>
            <a:solidFill>
              <a:schemeClr val="bg1">
                <a:lumMod val="6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2" name="직사각형 21"/>
          <p:cNvSpPr/>
          <p:nvPr/>
        </p:nvSpPr>
        <p:spPr>
          <a:xfrm>
            <a:off x="454275" y="710906"/>
            <a:ext cx="4233851" cy="523220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</a:br>
            <a:r>
              <a:rPr lang="en-US" altLang="ko-KR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Gameplay </a:t>
            </a:r>
            <a:r>
              <a:rPr lang="en-US" altLang="ko-KR" dirty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Ability System </a:t>
            </a:r>
            <a:r>
              <a:rPr lang="ko-KR" altLang="en-US" dirty="0" smtClean="0">
                <a:solidFill>
                  <a:schemeClr val="bg1">
                    <a:lumMod val="95000"/>
                  </a:schemeClr>
                </a:solidFill>
                <a:latin typeface="Noto Sans KR ExtraBold" panose="020B0200000000000000" pitchFamily="34" charset="-128"/>
                <a:ea typeface="Noto Sans KR ExtraBold" panose="020B0200000000000000" pitchFamily="34" charset="-128"/>
              </a:rPr>
              <a:t>기능 미사용</a:t>
            </a:r>
            <a:endParaRPr lang="ko-KR" altLang="en-US" dirty="0">
              <a:solidFill>
                <a:schemeClr val="bg1">
                  <a:lumMod val="95000"/>
                </a:schemeClr>
              </a:solidFill>
              <a:latin typeface="Noto Sans KR ExtraBold" panose="020B0200000000000000" pitchFamily="34" charset="-128"/>
              <a:ea typeface="Noto Sans KR ExtraBold" panose="020B0200000000000000" pitchFamily="34" charset="-128"/>
            </a:endParaRPr>
          </a:p>
        </p:txBody>
      </p:sp>
      <p:sp>
        <p:nvSpPr>
          <p:cNvPr id="5" name="직사각형 4"/>
          <p:cNvSpPr/>
          <p:nvPr/>
        </p:nvSpPr>
        <p:spPr>
          <a:xfrm>
            <a:off x="454275" y="1234126"/>
            <a:ext cx="9775575" cy="163121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프로젝트를 개발 당시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언리얼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엔진의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Gameplay 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 System(</a:t>
            </a:r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이하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GAS)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대한 사전 지식이 없는 상태로 액션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RPG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전투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상태 변화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로직을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처리하는 시스템을 구축했습니다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데이터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에셋으로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액션과 효과를 모듈화하고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인터페이스와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델리게이트를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통해 컴포넌트나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액터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간의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결합도를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낮추는 등 객체지향적 설계에 대해 고민하며 구현했습니다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비록 프로젝트 중반에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에 대해 알게 되어 아쉬움이 있었지만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endParaRPr lang="en-US" altLang="ko-KR" sz="1000" dirty="0" smtClean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밑바닥부터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유사한 구조 설계하는 과정은 오히려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구조 대해 이해하는데 큰 도움이 되었습니다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r>
              <a:rPr lang="ko-KR" altLang="en-US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유사한 구조를 만들어보며 고민하고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구현해보았기에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의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Ability, </a:t>
            </a:r>
            <a:r>
              <a:rPr lang="en-US" altLang="ko-KR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AttributeSet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, Effect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와 같은 요소들이 분리된 이유와 의도에 대해 이해할 수 있었습니다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  <a:p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  <a:p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가 가진 방대한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아키텍쳐에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대한 설계를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어느정도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공감하며 이해할 수 있게 되어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/>
            </a:r>
            <a:b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</a:b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GAS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를 학습하고 다음 프로젝트에 적용하는데 더 효과적으로 작업할 수 있을 것입니다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.</a:t>
            </a:r>
          </a:p>
        </p:txBody>
      </p:sp>
      <p:pic>
        <p:nvPicPr>
          <p:cNvPr id="3" name="그림 2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0000" y="4088722"/>
            <a:ext cx="7599827" cy="2400711"/>
          </a:xfrm>
          <a:prstGeom prst="rect">
            <a:avLst/>
          </a:prstGeom>
        </p:spPr>
      </p:pic>
      <p:pic>
        <p:nvPicPr>
          <p:cNvPr id="2" name="그림 1"/>
          <p:cNvPicPr>
            <a:picLocks noChangeAspect="1"/>
          </p:cNvPicPr>
          <p:nvPr/>
        </p:nvPicPr>
        <p:blipFill rotWithShape="1">
          <a:blip r:embed="rId4"/>
          <a:srcRect l="2966" b="2416"/>
          <a:stretch/>
        </p:blipFill>
        <p:spPr>
          <a:xfrm>
            <a:off x="6814295" y="2049734"/>
            <a:ext cx="5075830" cy="3519676"/>
          </a:xfrm>
          <a:prstGeom prst="rect">
            <a:avLst/>
          </a:prstGeom>
        </p:spPr>
      </p:pic>
      <p:sp>
        <p:nvSpPr>
          <p:cNvPr id="18" name="직사각형 17"/>
          <p:cNvSpPr/>
          <p:nvPr/>
        </p:nvSpPr>
        <p:spPr>
          <a:xfrm>
            <a:off x="454275" y="3809572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스킬 및 액션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  <p:sp>
        <p:nvSpPr>
          <p:cNvPr id="20" name="직사각형 19"/>
          <p:cNvSpPr/>
          <p:nvPr/>
        </p:nvSpPr>
        <p:spPr>
          <a:xfrm>
            <a:off x="9077218" y="5569410"/>
            <a:ext cx="2812907" cy="24622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r"/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프로젝트 중</a:t>
            </a:r>
            <a:r>
              <a:rPr lang="en-US" altLang="ko-KR" sz="1000" dirty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구조 설계 메모 </a:t>
            </a:r>
            <a:r>
              <a:rPr lang="en-US" altLang="ko-KR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: </a:t>
            </a:r>
            <a:r>
              <a:rPr lang="ko-KR" altLang="en-US" sz="1000" dirty="0" err="1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이펙트</a:t>
            </a:r>
            <a:r>
              <a:rPr lang="ko-KR" altLang="en-US" sz="1000" dirty="0" smtClean="0">
                <a:solidFill>
                  <a:schemeClr val="bg1">
                    <a:lumMod val="95000"/>
                  </a:schemeClr>
                </a:solidFill>
                <a:latin typeface="Noto Sans KR Medium" panose="020B0200000000000000" pitchFamily="34" charset="-128"/>
                <a:ea typeface="Noto Sans KR Medium" panose="020B0200000000000000" pitchFamily="34" charset="-128"/>
              </a:rPr>
              <a:t> 구조</a:t>
            </a:r>
            <a:endParaRPr lang="en-US" altLang="ko-KR" sz="1000" dirty="0">
              <a:solidFill>
                <a:schemeClr val="bg1">
                  <a:lumMod val="95000"/>
                </a:schemeClr>
              </a:solidFill>
              <a:latin typeface="Noto Sans KR Medium" panose="020B0200000000000000" pitchFamily="34" charset="-128"/>
              <a:ea typeface="Noto Sans KR Medium" panose="020B0200000000000000" pitchFamily="34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259609686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5442</TotalTime>
  <Words>2928</Words>
  <Application>Microsoft Office PowerPoint</Application>
  <PresentationFormat>와이드스크린</PresentationFormat>
  <Paragraphs>641</Paragraphs>
  <Slides>26</Slides>
  <Notes>25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26</vt:i4>
      </vt:variant>
    </vt:vector>
  </HeadingPairs>
  <TitlesOfParts>
    <vt:vector size="33" baseType="lpstr">
      <vt:lpstr>Noto Sans KR DemiLight</vt:lpstr>
      <vt:lpstr>Noto Sans KR ExtraBold</vt:lpstr>
      <vt:lpstr>Noto Sans KR Medium</vt:lpstr>
      <vt:lpstr>맑은 고딕</vt:lpstr>
      <vt:lpstr>Arial</vt:lpstr>
      <vt:lpstr>Open Sans ExtraBold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15.0000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USER</dc:creator>
  <cp:lastModifiedBy>user</cp:lastModifiedBy>
  <cp:revision>2477</cp:revision>
  <dcterms:created xsi:type="dcterms:W3CDTF">2025-12-03T02:34:26Z</dcterms:created>
  <dcterms:modified xsi:type="dcterms:W3CDTF">2026-03-24T17:02:17Z</dcterms:modified>
</cp:coreProperties>
</file>