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sldIdLst>
    <p:sldId id="258" r:id="rId2"/>
    <p:sldId id="259" r:id="rId3"/>
    <p:sldId id="260" r:id="rId4"/>
    <p:sldId id="261" r:id="rId5"/>
    <p:sldId id="295" r:id="rId6"/>
    <p:sldId id="296" r:id="rId7"/>
    <p:sldId id="286" r:id="rId8"/>
    <p:sldId id="288" r:id="rId9"/>
    <p:sldId id="298" r:id="rId10"/>
    <p:sldId id="299" r:id="rId11"/>
    <p:sldId id="287" r:id="rId12"/>
    <p:sldId id="300" r:id="rId13"/>
    <p:sldId id="297" r:id="rId14"/>
    <p:sldId id="291" r:id="rId15"/>
    <p:sldId id="289" r:id="rId16"/>
    <p:sldId id="272" r:id="rId17"/>
    <p:sldId id="292" r:id="rId18"/>
    <p:sldId id="290" r:id="rId19"/>
    <p:sldId id="293" r:id="rId20"/>
    <p:sldId id="294" r:id="rId21"/>
    <p:sldId id="265" r:id="rId22"/>
    <p:sldId id="276" r:id="rId23"/>
    <p:sldId id="284" r:id="rId2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5D8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35" autoAdjust="0"/>
    <p:restoredTop sz="81163" autoAdjust="0"/>
  </p:normalViewPr>
  <p:slideViewPr>
    <p:cSldViewPr snapToGrid="0" showGuides="1">
      <p:cViewPr varScale="1">
        <p:scale>
          <a:sx n="93" d="100"/>
          <a:sy n="93" d="100"/>
        </p:scale>
        <p:origin x="1218" y="90"/>
      </p:cViewPr>
      <p:guideLst>
        <p:guide orient="horz" pos="2137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80C216-7AC4-482D-A25B-339B4E373C44}" type="datetimeFigureOut">
              <a:rPr lang="ko-KR" altLang="en-US" smtClean="0"/>
              <a:t>2026-03-21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84B0AFA-6D7F-4C31-A334-420C28DC40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69350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ko-KR" altLang="en-US" dirty="0" smtClean="0"/>
              <a:t>객체지향 기본기</a:t>
            </a:r>
            <a:endParaRPr lang="en-US" altLang="ko-KR" dirty="0" smtClean="0"/>
          </a:p>
          <a:p>
            <a:pPr marL="0" indent="0">
              <a:buNone/>
            </a:pPr>
            <a:r>
              <a:rPr lang="ko-KR" altLang="en-US" dirty="0" smtClean="0"/>
              <a:t>이벤트 활용</a:t>
            </a:r>
            <a:endParaRPr lang="en-US" altLang="ko-KR" dirty="0" smtClean="0"/>
          </a:p>
          <a:p>
            <a:pPr marL="0" indent="0">
              <a:buNone/>
            </a:pPr>
            <a:r>
              <a:rPr lang="ko-KR" altLang="en-US" dirty="0" smtClean="0"/>
              <a:t>엔진 기능 활용</a:t>
            </a:r>
            <a:endParaRPr lang="en-US" altLang="ko-KR" dirty="0" smtClean="0"/>
          </a:p>
          <a:p>
            <a:pPr marL="0" indent="0">
              <a:buNone/>
            </a:pPr>
            <a:endParaRPr lang="en-US" altLang="ko-KR" dirty="0" smtClean="0"/>
          </a:p>
          <a:p>
            <a:pPr marL="0" indent="0">
              <a:buNone/>
            </a:pPr>
            <a:r>
              <a:rPr lang="ko-KR" altLang="en-US" dirty="0" smtClean="0"/>
              <a:t>프로젝트 소개</a:t>
            </a:r>
            <a:endParaRPr lang="en-US" altLang="ko-KR" dirty="0" smtClean="0"/>
          </a:p>
          <a:p>
            <a:pPr marL="0" indent="0">
              <a:buNone/>
            </a:pPr>
            <a:r>
              <a:rPr lang="en-US" altLang="ko-KR" dirty="0" smtClean="0"/>
              <a:t>- </a:t>
            </a:r>
            <a:r>
              <a:rPr lang="ko-KR" altLang="en-US" dirty="0" smtClean="0"/>
              <a:t>프로젝트 진행하면서 구현하고자 했던 의도를 여기서 언급</a:t>
            </a:r>
            <a:endParaRPr lang="en-US" altLang="ko-KR" dirty="0" smtClean="0"/>
          </a:p>
          <a:p>
            <a:pPr marL="0" indent="0">
              <a:buNone/>
            </a:pPr>
            <a:endParaRPr lang="en-US" altLang="ko-KR" dirty="0" smtClean="0"/>
          </a:p>
          <a:p>
            <a:pPr marL="0" indent="0">
              <a:buNone/>
            </a:pPr>
            <a:r>
              <a:rPr lang="ko-KR" altLang="en-US" dirty="0" smtClean="0"/>
              <a:t>핵심기능</a:t>
            </a:r>
            <a:endParaRPr lang="en-US" altLang="ko-KR" dirty="0" smtClean="0"/>
          </a:p>
          <a:p>
            <a:pPr marL="228600" indent="-228600">
              <a:buFontTx/>
              <a:buAutoNum type="arabicPeriod"/>
            </a:pPr>
            <a:r>
              <a:rPr lang="ko-KR" altLang="en-US" baseline="0" dirty="0" smtClean="0"/>
              <a:t>플레이어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- </a:t>
            </a:r>
            <a:r>
              <a:rPr lang="ko-KR" altLang="en-US" baseline="0" dirty="0" smtClean="0"/>
              <a:t>플레이어 조작 </a:t>
            </a:r>
            <a:r>
              <a:rPr lang="en-US" altLang="ko-KR" baseline="0" dirty="0" smtClean="0"/>
              <a:t>- </a:t>
            </a:r>
            <a:r>
              <a:rPr lang="ko-KR" altLang="en-US" baseline="0" dirty="0" smtClean="0"/>
              <a:t>컨트롤러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- </a:t>
            </a:r>
            <a:r>
              <a:rPr lang="ko-KR" altLang="en-US" baseline="0" dirty="0" smtClean="0"/>
              <a:t>플레이어 액션 구성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ko-KR" altLang="en-US" dirty="0" err="1" smtClean="0"/>
              <a:t>콤보</a:t>
            </a:r>
            <a:r>
              <a:rPr lang="ko-KR" altLang="en-US" dirty="0" smtClean="0"/>
              <a:t> 연결</a:t>
            </a:r>
            <a:endParaRPr lang="en-US" altLang="ko-KR" dirty="0" smtClean="0"/>
          </a:p>
          <a:p>
            <a:pPr marL="628650" marR="0" lvl="1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ko-KR" altLang="en-US" dirty="0" smtClean="0"/>
              <a:t>스킬 기능</a:t>
            </a:r>
            <a:endParaRPr lang="en-US" altLang="ko-KR" dirty="0" smtClean="0"/>
          </a:p>
          <a:p>
            <a:pPr marL="628650" marR="0" lvl="1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ko-KR" altLang="en-US" dirty="0" err="1" smtClean="0"/>
              <a:t>스탯</a:t>
            </a:r>
            <a:r>
              <a:rPr lang="ko-KR" altLang="en-US" dirty="0" smtClean="0"/>
              <a:t> 기능</a:t>
            </a:r>
            <a:endParaRPr lang="en-US" altLang="ko-KR" dirty="0" smtClean="0"/>
          </a:p>
          <a:p>
            <a:pPr marL="171450" marR="0" lvl="0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ko-KR" altLang="en-US" dirty="0" smtClean="0"/>
              <a:t>상호작용 및 타격 </a:t>
            </a:r>
            <a:r>
              <a:rPr lang="en-US" altLang="ko-KR" dirty="0" smtClean="0"/>
              <a:t>(</a:t>
            </a:r>
            <a:r>
              <a:rPr lang="ko-KR" altLang="en-US" dirty="0" smtClean="0"/>
              <a:t>인터페이스</a:t>
            </a:r>
            <a:r>
              <a:rPr lang="en-US" altLang="ko-KR" dirty="0" smtClean="0"/>
              <a:t>)</a:t>
            </a:r>
          </a:p>
          <a:p>
            <a:pPr marL="628650" marR="0" lvl="1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altLang="ko-KR" dirty="0" smtClean="0"/>
              <a:t>Trace</a:t>
            </a:r>
            <a:r>
              <a:rPr lang="ko-KR" altLang="en-US" dirty="0" smtClean="0"/>
              <a:t>를 이용한 탐지 및 사용</a:t>
            </a:r>
            <a:endParaRPr lang="en-US" altLang="ko-KR" dirty="0" smtClean="0"/>
          </a:p>
          <a:p>
            <a:pPr marL="0" indent="0">
              <a:buFontTx/>
              <a:buNone/>
            </a:pPr>
            <a:r>
              <a:rPr lang="en-US" altLang="ko-KR" dirty="0" smtClean="0"/>
              <a:t>2.</a:t>
            </a:r>
            <a:r>
              <a:rPr lang="en-US" altLang="ko-KR" baseline="0" dirty="0" smtClean="0"/>
              <a:t> </a:t>
            </a:r>
            <a:r>
              <a:rPr lang="ko-KR" altLang="en-US" baseline="0" dirty="0" err="1" smtClean="0"/>
              <a:t>몬스터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err="1" smtClean="0"/>
              <a:t>몬스터</a:t>
            </a:r>
            <a:r>
              <a:rPr lang="ko-KR" altLang="en-US" baseline="0" dirty="0" smtClean="0"/>
              <a:t> 구성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보스 </a:t>
            </a:r>
            <a:r>
              <a:rPr lang="ko-KR" altLang="en-US" baseline="0" dirty="0" err="1" smtClean="0"/>
              <a:t>몬스터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en-US" altLang="ko-KR" baseline="0" dirty="0" smtClean="0"/>
              <a:t>AI BT</a:t>
            </a:r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BT Task, Service, Decorator</a:t>
            </a:r>
          </a:p>
          <a:p>
            <a:pPr marL="628650" lvl="1" indent="-171450">
              <a:buFontTx/>
              <a:buChar char="-"/>
            </a:pPr>
            <a:r>
              <a:rPr lang="ko-KR" altLang="en-US" baseline="0" dirty="0" err="1" smtClean="0"/>
              <a:t>몬스터</a:t>
            </a:r>
            <a:r>
              <a:rPr lang="ko-KR" altLang="en-US" baseline="0" dirty="0" smtClean="0"/>
              <a:t> 액션 세부 동작을 위한 </a:t>
            </a:r>
            <a:r>
              <a:rPr lang="en-US" altLang="ko-KR" baseline="0" dirty="0" err="1" smtClean="0"/>
              <a:t>AnimNotify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AnimNotifyState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3. </a:t>
            </a:r>
            <a:r>
              <a:rPr lang="ko-KR" altLang="en-US" baseline="0" dirty="0" smtClean="0"/>
              <a:t>스테이지 </a:t>
            </a:r>
            <a:r>
              <a:rPr lang="en-US" altLang="ko-KR" baseline="0" dirty="0" smtClean="0"/>
              <a:t>(</a:t>
            </a:r>
            <a:r>
              <a:rPr lang="ko-KR" altLang="en-US" baseline="0" dirty="0" smtClean="0"/>
              <a:t>게임 진행</a:t>
            </a:r>
            <a:r>
              <a:rPr lang="en-US" altLang="ko-KR" baseline="0" dirty="0" smtClean="0"/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스테이지 섹션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ko-KR" altLang="en-US" baseline="0" dirty="0" smtClean="0"/>
              <a:t>연출용 </a:t>
            </a:r>
            <a:r>
              <a:rPr lang="ko-KR" altLang="en-US" baseline="0" dirty="0" err="1" smtClean="0"/>
              <a:t>컷씬</a:t>
            </a:r>
            <a:r>
              <a:rPr lang="ko-KR" altLang="en-US" baseline="0" dirty="0" smtClean="0"/>
              <a:t> 섹션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en-US" altLang="ko-KR" baseline="0" dirty="0" err="1" smtClean="0"/>
              <a:t>CombatGameMode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CombatGameState</a:t>
            </a:r>
            <a:r>
              <a:rPr lang="en-US" altLang="ko-KR" baseline="0" dirty="0" smtClean="0"/>
              <a:t> </a:t>
            </a:r>
            <a:r>
              <a:rPr lang="ko-KR" altLang="en-US" baseline="0" dirty="0" smtClean="0"/>
              <a:t>활용 이벤트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4. </a:t>
            </a:r>
            <a:r>
              <a:rPr lang="ko-KR" altLang="en-US" baseline="0" dirty="0" smtClean="0"/>
              <a:t>아이템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아이템 활용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장비 아이템 활용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제작</a:t>
            </a:r>
            <a:r>
              <a:rPr lang="en-US" altLang="ko-KR" baseline="0" dirty="0" smtClean="0"/>
              <a:t>, </a:t>
            </a:r>
            <a:r>
              <a:rPr lang="ko-KR" altLang="en-US" baseline="0" dirty="0" smtClean="0"/>
              <a:t>강화</a:t>
            </a:r>
            <a:r>
              <a:rPr lang="en-US" altLang="ko-KR" baseline="0" dirty="0" smtClean="0"/>
              <a:t>, </a:t>
            </a:r>
            <a:r>
              <a:rPr lang="ko-KR" altLang="en-US" baseline="0" dirty="0" smtClean="0"/>
              <a:t>계승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5. </a:t>
            </a:r>
            <a:r>
              <a:rPr lang="ko-KR" altLang="en-US" baseline="0" dirty="0" smtClean="0"/>
              <a:t>기타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UI</a:t>
            </a:r>
          </a:p>
          <a:p>
            <a:pPr marL="171450" indent="-171450">
              <a:buFontTx/>
              <a:buChar char="-"/>
            </a:pPr>
            <a:r>
              <a:rPr lang="en-US" altLang="ko-KR" baseline="0" dirty="0" err="1" smtClean="0"/>
              <a:t>UserWidget</a:t>
            </a:r>
            <a:r>
              <a:rPr lang="en-US" altLang="ko-KR" baseline="0" dirty="0" smtClean="0"/>
              <a:t> </a:t>
            </a:r>
            <a:r>
              <a:rPr lang="ko-KR" altLang="en-US" baseline="0" dirty="0" smtClean="0"/>
              <a:t>상속으로 구성 및</a:t>
            </a:r>
            <a:r>
              <a:rPr lang="en-US" altLang="ko-KR" baseline="0" dirty="0" smtClean="0"/>
              <a:t> </a:t>
            </a:r>
            <a:r>
              <a:rPr lang="en-US" altLang="ko-KR" baseline="0" dirty="0" err="1" smtClean="0"/>
              <a:t>UWPopUp</a:t>
            </a:r>
            <a:r>
              <a:rPr lang="en-US" altLang="ko-KR" baseline="0" dirty="0" smtClean="0"/>
              <a:t> </a:t>
            </a:r>
            <a:r>
              <a:rPr lang="ko-KR" altLang="en-US" baseline="0" dirty="0" smtClean="0"/>
              <a:t>클래스 사용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en-US" altLang="ko-KR" baseline="0" dirty="0" smtClean="0"/>
              <a:t>HUD </a:t>
            </a:r>
            <a:r>
              <a:rPr lang="ko-KR" altLang="en-US" baseline="0" dirty="0" smtClean="0"/>
              <a:t>용도와 </a:t>
            </a:r>
            <a:r>
              <a:rPr lang="en-US" altLang="ko-KR" baseline="0" dirty="0" err="1" smtClean="0"/>
              <a:t>PopUp</a:t>
            </a:r>
            <a:r>
              <a:rPr lang="ko-KR" altLang="en-US" baseline="0" dirty="0" smtClean="0"/>
              <a:t>용도 구분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PCG</a:t>
            </a:r>
          </a:p>
          <a:p>
            <a:pPr marL="0" indent="0">
              <a:buFontTx/>
              <a:buNone/>
            </a:pPr>
            <a:r>
              <a:rPr lang="en-US" altLang="ko-KR" baseline="0" dirty="0" smtClean="0"/>
              <a:t>- PCG </a:t>
            </a:r>
            <a:r>
              <a:rPr lang="ko-KR" altLang="en-US" baseline="0" dirty="0" smtClean="0"/>
              <a:t>활용한 레벨 오브젝트 배치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ko-KR" altLang="en-US" baseline="0" dirty="0" smtClean="0"/>
              <a:t>트러블슈팅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err="1" smtClean="0"/>
              <a:t>랜드스케이프</a:t>
            </a:r>
            <a:r>
              <a:rPr lang="ko-KR" altLang="en-US" baseline="0" dirty="0" smtClean="0"/>
              <a:t> 적용 후</a:t>
            </a:r>
            <a:r>
              <a:rPr lang="en-US" altLang="ko-KR" baseline="0" dirty="0" smtClean="0"/>
              <a:t>, </a:t>
            </a:r>
            <a:r>
              <a:rPr lang="ko-KR" altLang="en-US" baseline="0" dirty="0" err="1" smtClean="0"/>
              <a:t>액터</a:t>
            </a:r>
            <a:r>
              <a:rPr lang="ko-KR" altLang="en-US" baseline="0" dirty="0" smtClean="0"/>
              <a:t> </a:t>
            </a:r>
            <a:r>
              <a:rPr lang="ko-KR" altLang="en-US" baseline="0" dirty="0" err="1" smtClean="0"/>
              <a:t>스폰</a:t>
            </a:r>
            <a:r>
              <a:rPr lang="ko-KR" altLang="en-US" baseline="0" dirty="0" smtClean="0"/>
              <a:t> 문제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레벨 시퀀스 사용 시</a:t>
            </a:r>
            <a:r>
              <a:rPr lang="en-US" altLang="ko-KR" baseline="0" dirty="0" smtClean="0"/>
              <a:t>, </a:t>
            </a:r>
            <a:r>
              <a:rPr lang="ko-KR" altLang="en-US" baseline="0" dirty="0" err="1" smtClean="0"/>
              <a:t>빌드</a:t>
            </a:r>
            <a:r>
              <a:rPr lang="ko-KR" altLang="en-US" baseline="0" dirty="0" smtClean="0"/>
              <a:t> 에러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ko-KR" altLang="en-US" baseline="0" dirty="0" smtClean="0"/>
              <a:t>보완점 및 </a:t>
            </a:r>
            <a:r>
              <a:rPr lang="ko-KR" altLang="en-US" baseline="0" dirty="0" err="1" smtClean="0"/>
              <a:t>반성점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en-US" altLang="ko-KR" baseline="0" dirty="0" smtClean="0"/>
              <a:t>GAS </a:t>
            </a:r>
            <a:r>
              <a:rPr lang="ko-KR" altLang="en-US" baseline="0" dirty="0" smtClean="0"/>
              <a:t>기능 활용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데이터 구성 시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DataTable</a:t>
            </a:r>
            <a:r>
              <a:rPr lang="ko-KR" altLang="en-US" baseline="0" dirty="0" smtClean="0"/>
              <a:t>과 </a:t>
            </a:r>
            <a:r>
              <a:rPr lang="en-US" altLang="ko-KR" baseline="0" dirty="0" err="1" smtClean="0"/>
              <a:t>DataAsset</a:t>
            </a:r>
            <a:r>
              <a:rPr lang="ko-KR" altLang="en-US" baseline="0" dirty="0" smtClean="0"/>
              <a:t> 사용 구분</a:t>
            </a:r>
            <a:endParaRPr lang="en-US" altLang="ko-KR" baseline="0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72542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액션 </a:t>
            </a:r>
            <a:r>
              <a:rPr lang="en-US" altLang="ko-KR" dirty="0" smtClean="0"/>
              <a:t>RPG </a:t>
            </a:r>
            <a:r>
              <a:rPr lang="ko-KR" altLang="en-US" dirty="0" smtClean="0"/>
              <a:t>장르</a:t>
            </a:r>
            <a:endParaRPr lang="en-US" altLang="ko-KR" dirty="0" smtClean="0"/>
          </a:p>
          <a:p>
            <a:r>
              <a:rPr lang="ko-KR" altLang="en-US" dirty="0" smtClean="0"/>
              <a:t>먼 미래 모종의 이유로 기존</a:t>
            </a:r>
            <a:r>
              <a:rPr lang="ko-KR" altLang="en-US" baseline="0" dirty="0" smtClean="0"/>
              <a:t> 문명이 멸망한 포스트 </a:t>
            </a:r>
            <a:r>
              <a:rPr lang="ko-KR" altLang="en-US" baseline="0" dirty="0" err="1" smtClean="0"/>
              <a:t>아포칼립스</a:t>
            </a:r>
            <a:r>
              <a:rPr lang="ko-KR" altLang="en-US" baseline="0" dirty="0" smtClean="0"/>
              <a:t> 세계관에서</a:t>
            </a:r>
            <a:endParaRPr lang="en-US" altLang="ko-KR" baseline="0" dirty="0" smtClean="0"/>
          </a:p>
          <a:p>
            <a:r>
              <a:rPr lang="ko-KR" altLang="en-US" baseline="0" dirty="0" smtClean="0"/>
              <a:t>생존을 위해 폐허를 떠돌며 자원을 수집해나가는 액션 </a:t>
            </a:r>
            <a:r>
              <a:rPr lang="en-US" altLang="ko-KR" baseline="0" dirty="0" smtClean="0"/>
              <a:t>RPG </a:t>
            </a:r>
            <a:r>
              <a:rPr lang="ko-KR" altLang="en-US" baseline="0" dirty="0" smtClean="0"/>
              <a:t>게임입니다</a:t>
            </a:r>
            <a:r>
              <a:rPr lang="en-US" altLang="ko-KR" baseline="0" dirty="0" smtClean="0"/>
              <a:t>.</a:t>
            </a:r>
          </a:p>
          <a:p>
            <a:endParaRPr lang="en-US" altLang="ko-KR" dirty="0" smtClean="0"/>
          </a:p>
          <a:p>
            <a:r>
              <a:rPr lang="ko-KR" altLang="en-US" dirty="0" err="1" smtClean="0"/>
              <a:t>레퍼런스로</a:t>
            </a:r>
            <a:r>
              <a:rPr lang="ko-KR" altLang="en-US" dirty="0" smtClean="0"/>
              <a:t> 삼은 </a:t>
            </a:r>
            <a:r>
              <a:rPr lang="en-US" altLang="ko-KR" dirty="0" err="1" smtClean="0"/>
              <a:t>vindictus</a:t>
            </a:r>
            <a:r>
              <a:rPr lang="en-US" altLang="ko-KR" dirty="0" smtClean="0"/>
              <a:t> : defying fate</a:t>
            </a:r>
            <a:r>
              <a:rPr lang="ko-KR" altLang="en-US" baseline="0" dirty="0" smtClean="0"/>
              <a:t>가 표현한 </a:t>
            </a:r>
            <a:r>
              <a:rPr lang="ko-KR" altLang="en-US" baseline="0" dirty="0" err="1" smtClean="0"/>
              <a:t>콤보를</a:t>
            </a:r>
            <a:r>
              <a:rPr lang="ko-KR" altLang="en-US" baseline="0" dirty="0" smtClean="0"/>
              <a:t> 통한 스킬 </a:t>
            </a:r>
            <a:r>
              <a:rPr lang="ko-KR" altLang="en-US" baseline="0" dirty="0" err="1" smtClean="0"/>
              <a:t>조작감</a:t>
            </a:r>
            <a:endParaRPr lang="en-US" altLang="ko-KR" baseline="0" dirty="0" smtClean="0"/>
          </a:p>
          <a:p>
            <a:r>
              <a:rPr lang="ko-KR" altLang="en-US" baseline="0" dirty="0" smtClean="0"/>
              <a:t>광범위 공격을 이용한 </a:t>
            </a:r>
            <a:r>
              <a:rPr lang="ko-KR" altLang="en-US" baseline="0" dirty="0" err="1" smtClean="0"/>
              <a:t>핵앤슬래쉬</a:t>
            </a:r>
            <a:r>
              <a:rPr lang="ko-KR" altLang="en-US" baseline="0" dirty="0" smtClean="0"/>
              <a:t> 느낌의 표현</a:t>
            </a:r>
            <a:endParaRPr lang="en-US" altLang="ko-KR" baseline="0" dirty="0" smtClean="0"/>
          </a:p>
          <a:p>
            <a:r>
              <a:rPr lang="ko-KR" altLang="en-US" baseline="0" dirty="0" smtClean="0"/>
              <a:t>보스와 일대일 전투에선 보스의 패턴을 파훼하고 보스의 공격에 대응하는 기능 구현에 신경 씀</a:t>
            </a:r>
            <a:endParaRPr lang="en-US" altLang="ko-KR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43047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baseline="0" dirty="0" err="1" smtClean="0"/>
              <a:t>ARPGGameInstance</a:t>
            </a:r>
            <a:r>
              <a:rPr lang="en-US" altLang="ko-KR" baseline="0" dirty="0" smtClean="0"/>
              <a:t> </a:t>
            </a:r>
          </a:p>
          <a:p>
            <a:pPr marL="0" indent="0">
              <a:buNone/>
            </a:pPr>
            <a:r>
              <a:rPr lang="en-US" altLang="ko-KR" baseline="0" dirty="0" err="1" smtClean="0"/>
              <a:t>GameInstanceSubSystem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PlayerManager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Inventory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</a:p>
          <a:p>
            <a:pPr marL="2000250" marR="0" lvl="4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altLang="ko-KR" baseline="0" dirty="0" err="1" smtClean="0"/>
              <a:t>ConsumableItem</a:t>
            </a:r>
            <a:endParaRPr lang="en-US" altLang="ko-KR" baseline="0" dirty="0" smtClean="0"/>
          </a:p>
          <a:p>
            <a:pPr marL="2000250" lvl="4" indent="-171450">
              <a:buFontTx/>
              <a:buChar char="-"/>
            </a:pPr>
            <a:r>
              <a:rPr lang="en-US" altLang="ko-KR" baseline="0" dirty="0" err="1" smtClean="0"/>
              <a:t>EquipmentItem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err="1" smtClean="0"/>
              <a:t>ItemData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ItemConfig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Equipment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QuickSlot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  <a:r>
              <a:rPr lang="ko-KR" altLang="en-US" baseline="0" dirty="0" smtClean="0"/>
              <a:t>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SkillDevelop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DataManager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SaveLoadManager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ISaveLoadHandler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WorldSubSystem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ObjectPoolManager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ARPGGameMode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PlayerCharacter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Effect</a:t>
            </a:r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TermEffect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PeriodicEffect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EventEffect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EffectData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PlayerActionComponent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Action, </a:t>
            </a:r>
            <a:r>
              <a:rPr lang="en-US" altLang="ko-KR" baseline="0" dirty="0" err="1" smtClean="0"/>
              <a:t>AttackActonCombo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SkillUpgradeData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SkillTreeData</a:t>
            </a:r>
            <a:endParaRPr lang="en-US" altLang="ko-KR" baseline="0" dirty="0" smtClean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aseline="0" dirty="0" err="1" smtClean="0"/>
              <a:t>MonsterBase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RegularMonster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MonsterActionComponent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BossMonster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IGimicHandler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BossActionComponent</a:t>
            </a:r>
            <a:endParaRPr lang="en-US" altLang="ko-KR" baseline="0" dirty="0" smtClean="0"/>
          </a:p>
          <a:p>
            <a:pPr marL="457200" lvl="1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StageSection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StageCutSceneSection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smtClean="0"/>
              <a:t>ARPGHUD</a:t>
            </a:r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NonCombatHUD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CombatHUD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UserWidget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UWPopUp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smtClean="0"/>
              <a:t>…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409901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baseline="0" dirty="0" err="1" smtClean="0"/>
              <a:t>ARPGGameInstance</a:t>
            </a:r>
            <a:r>
              <a:rPr lang="en-US" altLang="ko-KR" baseline="0" dirty="0" smtClean="0"/>
              <a:t> </a:t>
            </a:r>
          </a:p>
          <a:p>
            <a:pPr marL="0" indent="0">
              <a:buNone/>
            </a:pPr>
            <a:r>
              <a:rPr lang="en-US" altLang="ko-KR" baseline="0" dirty="0" err="1" smtClean="0"/>
              <a:t>GameInstanceSubSystem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PlayerManager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Inventory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</a:p>
          <a:p>
            <a:pPr marL="2000250" marR="0" lvl="4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altLang="ko-KR" baseline="0" dirty="0" err="1" smtClean="0"/>
              <a:t>ConsumableItem</a:t>
            </a:r>
            <a:endParaRPr lang="en-US" altLang="ko-KR" baseline="0" dirty="0" smtClean="0"/>
          </a:p>
          <a:p>
            <a:pPr marL="2000250" lvl="4" indent="-171450">
              <a:buFontTx/>
              <a:buChar char="-"/>
            </a:pPr>
            <a:r>
              <a:rPr lang="en-US" altLang="ko-KR" baseline="0" dirty="0" err="1" smtClean="0"/>
              <a:t>EquipmentItem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err="1" smtClean="0"/>
              <a:t>ItemData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ItemConfig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Equipment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QuickSlot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  <a:r>
              <a:rPr lang="ko-KR" altLang="en-US" baseline="0" dirty="0" smtClean="0"/>
              <a:t>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SkillDevelop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DataManager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SaveLoadManager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ISaveLoadHandler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WorldSubSystem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ObjectPoolManager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ARPGGameMode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PlayerCharacter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Effect</a:t>
            </a:r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TermEffect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PeriodicEffect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EventEffect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EffectData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PlayerActionComponent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Action, </a:t>
            </a:r>
            <a:r>
              <a:rPr lang="en-US" altLang="ko-KR" baseline="0" dirty="0" err="1" smtClean="0"/>
              <a:t>AttackActonCombo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SkillUpgradeData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SkillTreeData</a:t>
            </a:r>
            <a:endParaRPr lang="en-US" altLang="ko-KR" baseline="0" dirty="0" smtClean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aseline="0" dirty="0" err="1" smtClean="0"/>
              <a:t>MonsterBase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RegularMonster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MonsterActionComponent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BossMonster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IGimicHandler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BossActionComponent</a:t>
            </a:r>
            <a:endParaRPr lang="en-US" altLang="ko-KR" baseline="0" dirty="0" smtClean="0"/>
          </a:p>
          <a:p>
            <a:pPr marL="457200" lvl="1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StageSection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StageCutSceneSection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smtClean="0"/>
              <a:t>ARPGHUD</a:t>
            </a:r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NonCombatHUD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CombatHUD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UserWidget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UWPopUp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smtClean="0"/>
              <a:t>…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38239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baseline="0" dirty="0" err="1" smtClean="0"/>
              <a:t>ARPGGameInstance</a:t>
            </a:r>
            <a:r>
              <a:rPr lang="en-US" altLang="ko-KR" baseline="0" dirty="0" smtClean="0"/>
              <a:t> </a:t>
            </a:r>
          </a:p>
          <a:p>
            <a:pPr marL="0" indent="0">
              <a:buNone/>
            </a:pPr>
            <a:r>
              <a:rPr lang="en-US" altLang="ko-KR" baseline="0" dirty="0" err="1" smtClean="0"/>
              <a:t>GameInstanceSubSystem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PlayerManager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Inventory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</a:p>
          <a:p>
            <a:pPr marL="2000250" marR="0" lvl="4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altLang="ko-KR" baseline="0" dirty="0" err="1" smtClean="0"/>
              <a:t>ConsumableItem</a:t>
            </a:r>
            <a:endParaRPr lang="en-US" altLang="ko-KR" baseline="0" dirty="0" smtClean="0"/>
          </a:p>
          <a:p>
            <a:pPr marL="2000250" lvl="4" indent="-171450">
              <a:buFontTx/>
              <a:buChar char="-"/>
            </a:pPr>
            <a:r>
              <a:rPr lang="en-US" altLang="ko-KR" baseline="0" dirty="0" err="1" smtClean="0"/>
              <a:t>EquipmentItem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err="1" smtClean="0"/>
              <a:t>ItemData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ItemConfig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Equipment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QuickSlot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  <a:r>
              <a:rPr lang="ko-KR" altLang="en-US" baseline="0" dirty="0" smtClean="0"/>
              <a:t>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SkillDevelop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DataManager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SaveLoadManager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ISaveLoadHandler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WorldSubSystem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ObjectPoolManager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ARPGGameMode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PlayerCharacter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Effect</a:t>
            </a:r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TermEffect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PeriodicEffect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EventEffect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EffectData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PlayerActionComponent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Action, </a:t>
            </a:r>
            <a:r>
              <a:rPr lang="en-US" altLang="ko-KR" baseline="0" dirty="0" err="1" smtClean="0"/>
              <a:t>AttackActonCombo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SkillUpgradeData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SkillTreeData</a:t>
            </a:r>
            <a:endParaRPr lang="en-US" altLang="ko-KR" baseline="0" dirty="0" smtClean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aseline="0" dirty="0" err="1" smtClean="0"/>
              <a:t>MonsterBase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RegularMonster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MonsterActionComponent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BossMonster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IGimicHandler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BossActionComponent</a:t>
            </a:r>
            <a:endParaRPr lang="en-US" altLang="ko-KR" baseline="0" dirty="0" smtClean="0"/>
          </a:p>
          <a:p>
            <a:pPr marL="457200" lvl="1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StageSection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StageCutSceneSection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smtClean="0"/>
              <a:t>ARPGHUD</a:t>
            </a:r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NonCombatHUD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CombatHUD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UserWidget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UWPopUp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smtClean="0"/>
              <a:t>…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345764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69222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공격력 등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반영하여 플레이어 캐릭터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반영하는 컴포넌트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기본 캐릭터의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장비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효과로 얻은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관리하여 종합적으로 계산한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받을 수 있음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게이지와 같은 자원의 성격을 가진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이벤트 제공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UEffect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등의 효과를 거는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필요한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기능을 살펴보니 거의 대부분이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영향을 준다는 공통적을 발견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그에 따라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효과를 등록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해제하고 관리하는 기능을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이때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외부에서 직접 접근하기엔 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액터들에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의존성이 발생할 것을 고려하여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IEffectHandler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ApplyEffect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작성하도록 함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Activate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사용해서 구현한 효과 작동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TermEffect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 유지되어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PeriodicalEffect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주기마다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EventEffect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특정한 조건을 만족할 때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피격 시 발동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036511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공격력 등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반영하여 플레이어 캐릭터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반영하는 컴포넌트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기본 캐릭터의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장비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효과로 얻은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관리하여 종합적으로 계산한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받을 수 있음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게이지와 같은 자원의 성격을 가진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이벤트 제공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UEffect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등의 효과를 거는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필요한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기능을 살펴보니 거의 대부분이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영향을 준다는 공통적을 발견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그에 따라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효과를 등록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해제하고 관리하는 기능을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이때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외부에서 직접 접근하기엔 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액터들에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의존성이 발생할 것을 고려하여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IEffectHandler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ApplyEffect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작성하도록 함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Activate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사용해서 구현한 효과 작동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TermEffect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 유지되어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PeriodicalEffect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주기마다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EventEffect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특정한 조건을 만족할 때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피격 시 발동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311445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공격력 등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반영하여 플레이어 캐릭터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반영하는 컴포넌트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기본 캐릭터의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장비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효과로 얻은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관리하여 종합적으로 계산한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받을 수 있음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게이지와 같은 자원의 성격을 가진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이벤트 제공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UEffect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등의 효과를 거는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필요한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기능을 살펴보니 거의 대부분이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영향을 준다는 공통적을 발견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그에 따라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효과를 등록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해제하고 관리하는 기능을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이때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외부에서 직접 접근하기엔 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액터들에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의존성이 발생할 것을 고려하여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IEffectHandler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ApplyEffect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작성하도록 함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Activate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사용해서 구현한 효과 작동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TermEffect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 유지되어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PeriodicalEffect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주기마다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EventEffect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특정한 조건을 만족할 때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피격 시 발동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451171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액션 컴포넌트 역할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AnimMontage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AnimNotify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이용한 액션 구성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UActionComboData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그래프 형태로 이어 연계 동작을 설정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UPlayerActionComponent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공격 입력에 따라 설정한 그래프의 연결을 따라 액션을 수행하도록 작동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828734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액션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데이터를 이용하여 공격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AnimNotify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사용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멤버 변수로 특정 인덱스를 부여하여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액션에서도 특정 동작에 대한 타격 범위나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데미지를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세분화하여 설정하도록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경우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뿐만 아니라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사용하는 등 타 클래스간의 의존성에 대한 고려가 필요했음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IAttackNotifyHandler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사용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HandleAttackNotify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구현하도록 하여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몽타주 재생 중 정확한 시점의 타격 및 세분화된 공격 동작을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marR="0" lvl="0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액션의 진행 중 발생하는 이벤트에 따라 지정한 효과를 얻거나 대상에게 부여할 수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 marL="628650" lvl="1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648417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액션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데이터를 이용하여 공격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AnimNotify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사용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멤버 변수로 특정 인덱스를 부여하여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액션에서도 특정 동작에 대한 타격 범위나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데미지를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세분화하여 설정하도록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경우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뿐만 아니라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사용하는 등 타 클래스간의 의존성에 대한 고려가 필요했음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IAttackNotifyHandler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사용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HandleAttackNotify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구현하도록 하여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몽타주 재생 중 정확한 시점의 타격 및 세분화된 공격 동작을 구현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732454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데이터 관리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구성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컴포넌트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액션 컴포넌트와 액션 처리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반영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0" lvl="0" indent="0">
              <a:buFont typeface="Arial" panose="020B0604020202020204" pitchFamily="34" charset="0"/>
              <a:buNone/>
            </a:pPr>
            <a:endParaRPr lang="en-US" altLang="ko-KR" dirty="0" smtClean="0"/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기능 설명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기능에 따라 필요한 클래스 명시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클래스 역할 기입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562512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데이터 관리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구성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컴포넌트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액션 컴포넌트와 액션 처리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반영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0" lvl="0" indent="0">
              <a:buFont typeface="Arial" panose="020B0604020202020204" pitchFamily="34" charset="0"/>
              <a:buNone/>
            </a:pPr>
            <a:endParaRPr lang="en-US" altLang="ko-KR" dirty="0" smtClean="0"/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기능 설명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기능에 따라 필요한 클래스 명시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클래스 역할 기입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027119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Arial" panose="020B0604020202020204" pitchFamily="34" charset="0"/>
              <a:buNone/>
            </a:pPr>
            <a:r>
              <a:rPr lang="ko-KR" altLang="en-US" dirty="0" err="1" smtClean="0"/>
              <a:t>몬스터</a:t>
            </a:r>
            <a:r>
              <a:rPr lang="ko-KR" altLang="en-US" dirty="0" smtClean="0"/>
              <a:t> 종류</a:t>
            </a:r>
            <a:endParaRPr lang="en-US" altLang="ko-KR" dirty="0" smtClean="0"/>
          </a:p>
          <a:p>
            <a:pPr marL="0" lvl="0" indent="0">
              <a:buFont typeface="Arial" panose="020B0604020202020204" pitchFamily="34" charset="0"/>
              <a:buNone/>
            </a:pPr>
            <a:endParaRPr lang="en-US" altLang="ko-KR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085353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Arial" panose="020B0604020202020204" pitchFamily="34" charset="0"/>
              <a:buNone/>
            </a:pPr>
            <a:r>
              <a:rPr lang="ko-KR" altLang="en-US" dirty="0" err="1" smtClean="0"/>
              <a:t>몬스터</a:t>
            </a:r>
            <a:r>
              <a:rPr lang="ko-KR" altLang="en-US" dirty="0" smtClean="0"/>
              <a:t> 종류</a:t>
            </a:r>
            <a:endParaRPr lang="en-US" altLang="ko-KR" dirty="0" smtClean="0"/>
          </a:p>
          <a:p>
            <a:pPr marL="0" lvl="0" indent="0">
              <a:buFont typeface="Arial" panose="020B0604020202020204" pitchFamily="34" charset="0"/>
              <a:buNone/>
            </a:pPr>
            <a:endParaRPr lang="en-US" altLang="ko-KR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9935693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Arial" panose="020B0604020202020204" pitchFamily="34" charset="0"/>
              <a:buNone/>
            </a:pPr>
            <a:r>
              <a:rPr lang="ko-KR" altLang="en-US" dirty="0" err="1" smtClean="0"/>
              <a:t>몬스터</a:t>
            </a:r>
            <a:r>
              <a:rPr lang="ko-KR" altLang="en-US" dirty="0" smtClean="0"/>
              <a:t> 종류</a:t>
            </a:r>
            <a:endParaRPr lang="en-US" altLang="ko-KR" dirty="0" smtClean="0"/>
          </a:p>
          <a:p>
            <a:pPr marL="0" lvl="0" indent="0">
              <a:buFont typeface="Arial" panose="020B0604020202020204" pitchFamily="34" charset="0"/>
              <a:buNone/>
            </a:pPr>
            <a:endParaRPr lang="en-US" altLang="ko-KR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052973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Arial" panose="020B0604020202020204" pitchFamily="34" charset="0"/>
              <a:buNone/>
            </a:pPr>
            <a:r>
              <a:rPr lang="ko-KR" altLang="en-US" dirty="0" err="1" smtClean="0"/>
              <a:t>몬스터</a:t>
            </a:r>
            <a:r>
              <a:rPr lang="ko-KR" altLang="en-US" dirty="0" smtClean="0"/>
              <a:t> 종류</a:t>
            </a:r>
            <a:endParaRPr lang="en-US" altLang="ko-KR" dirty="0" smtClean="0"/>
          </a:p>
          <a:p>
            <a:pPr marL="0" lvl="0" indent="0">
              <a:buFont typeface="Arial" panose="020B0604020202020204" pitchFamily="34" charset="0"/>
              <a:buNone/>
            </a:pPr>
            <a:endParaRPr lang="en-US" altLang="ko-KR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884864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Arial" panose="020B0604020202020204" pitchFamily="34" charset="0"/>
              <a:buNone/>
            </a:pPr>
            <a:r>
              <a:rPr lang="ko-KR" altLang="en-US" dirty="0" err="1" smtClean="0"/>
              <a:t>몬스터</a:t>
            </a:r>
            <a:r>
              <a:rPr lang="ko-KR" altLang="en-US" dirty="0" smtClean="0"/>
              <a:t> 종류</a:t>
            </a:r>
            <a:endParaRPr lang="en-US" altLang="ko-KR" dirty="0" smtClean="0"/>
          </a:p>
          <a:p>
            <a:pPr marL="0" lvl="0" indent="0">
              <a:buFont typeface="Arial" panose="020B0604020202020204" pitchFamily="34" charset="0"/>
              <a:buNone/>
            </a:pPr>
            <a:endParaRPr lang="en-US" altLang="ko-KR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163676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 smtClean="0"/>
              <a:t>랜드스케이프</a:t>
            </a:r>
            <a:r>
              <a:rPr lang="ko-KR" altLang="en-US" dirty="0" smtClean="0"/>
              <a:t> 적용 후 에러 확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17161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baseline="0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749828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dirty="0" smtClean="0">
              <a:solidFill>
                <a:schemeClr val="bg1"/>
              </a:solidFill>
              <a:latin typeface="Noto Sans KR Light" panose="020B0200000000000000" pitchFamily="34" charset="-128"/>
              <a:ea typeface="Noto Sans KR Light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73827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16685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18528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03141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46478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2026-03-21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44119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2026-03-21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83527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2026-03-21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7503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94641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56697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98767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06867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56477C-5364-4FAF-AB24-F59E083ADCD2}" type="datetimeFigureOut">
              <a:rPr lang="ko-KR" altLang="en-US" smtClean="0"/>
              <a:t>2026-03-21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14013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217406" y="2736502"/>
            <a:ext cx="37571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DemiLight" panose="020B0200000000000000" pitchFamily="34" charset="-128"/>
                <a:ea typeface="Noto Sans KR DemiLight" panose="020B0200000000000000" pitchFamily="34" charset="-128"/>
              </a:rPr>
              <a:t>Unreal Engine 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DemiLight" panose="020B0200000000000000" pitchFamily="34" charset="-128"/>
                <a:ea typeface="Noto Sans KR DemiLight" panose="020B0200000000000000" pitchFamily="34" charset="-128"/>
              </a:rPr>
              <a:t>포트폴리오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DemiLight" panose="020B0200000000000000" pitchFamily="34" charset="-128"/>
              <a:ea typeface="Noto Sans KR DemiLight" panose="020B0200000000000000" pitchFamily="34" charset="-128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674198" y="3105834"/>
            <a:ext cx="48436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600" b="1" dirty="0" smtClean="0">
                <a:solidFill>
                  <a:schemeClr val="bg1">
                    <a:lumMod val="95000"/>
                  </a:schemeClr>
                </a:solidFill>
                <a:latin typeface="Open Sans ExtraBold"/>
                <a:ea typeface="Noto Sans KR ExtraBold" panose="020B0200000000000000" pitchFamily="34" charset="-128"/>
              </a:rPr>
              <a:t>SCAVENGER'S EDGE</a:t>
            </a:r>
            <a:endParaRPr lang="ko-KR" altLang="en-US" sz="3600" b="1" dirty="0">
              <a:solidFill>
                <a:schemeClr val="bg1">
                  <a:lumMod val="95000"/>
                </a:schemeClr>
              </a:solidFill>
              <a:latin typeface="Open Sans ExtraBold"/>
              <a:ea typeface="Noto Sans KR ExtraBold" panose="020B0200000000000000" pitchFamily="34" charset="-128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217406" y="3779324"/>
            <a:ext cx="37571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DemiLight" panose="020B0200000000000000" pitchFamily="34" charset="-128"/>
                <a:ea typeface="Noto Sans KR DemiLight" panose="020B0200000000000000" pitchFamily="34" charset="-128"/>
              </a:rPr>
              <a:t>김정환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DemiLight" panose="020B0200000000000000" pitchFamily="34" charset="-128"/>
              <a:ea typeface="Noto Sans KR DemiLight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5120104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55352" y="3198166"/>
            <a:ext cx="15317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24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  <a:cs typeface="Open Sans ExtraBold" pitchFamily="2" charset="0"/>
              </a:rPr>
              <a:t>목차</a:t>
            </a:r>
            <a:endParaRPr lang="ko-KR" altLang="en-US" sz="24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  <a:cs typeface="Open Sans ExtraBold" pitchFamily="2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240384" y="2172757"/>
            <a:ext cx="2482383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lnSpc>
                <a:spcPct val="250000"/>
              </a:lnSpc>
              <a:buFont typeface="+mj-lt"/>
              <a:buAutoNum type="arabicPeriod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 소개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228600" indent="-228600">
              <a:lnSpc>
                <a:spcPct val="250000"/>
              </a:lnSpc>
              <a:buFont typeface="+mj-lt"/>
              <a:buAutoNum type="arabicPeriod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구조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228600" indent="-228600">
              <a:lnSpc>
                <a:spcPct val="250000"/>
              </a:lnSpc>
              <a:buFont typeface="+mj-lt"/>
              <a:buAutoNum type="arabicPeriod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핵심기능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228600" indent="-228600">
              <a:lnSpc>
                <a:spcPct val="250000"/>
              </a:lnSpc>
              <a:buFont typeface="+mj-lt"/>
              <a:buAutoNum type="arabicPeriod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트러블슈팅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228600" indent="-228600">
              <a:lnSpc>
                <a:spcPct val="250000"/>
              </a:lnSpc>
              <a:buFont typeface="+mj-lt"/>
              <a:buAutoNum type="arabicPeriod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보완점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및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반성점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4873502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540000" y="4665332"/>
            <a:ext cx="51559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solidFill>
                  <a:schemeClr val="bg1">
                    <a:lumMod val="95000"/>
                  </a:schemeClr>
                </a:solidFill>
                <a:latin typeface="Open Sans ExtraBold" pitchFamily="2" charset="0"/>
                <a:ea typeface="Open Sans ExtraBold" pitchFamily="2" charset="0"/>
                <a:cs typeface="Open Sans ExtraBold" pitchFamily="2" charset="0"/>
              </a:rPr>
              <a:t>SCAVENGER'S EDGE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5250107"/>
            <a:ext cx="434760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장르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RPG</a:t>
            </a:r>
          </a:p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작업기간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65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(26.01.14~26.03.20)</a:t>
            </a:r>
          </a:p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개발인원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툴 및 언어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Visual Studio C++, Unreal Engine 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0" y="4665332"/>
            <a:ext cx="5556000" cy="1708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먼 미래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모종의 이유로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모든 문명이 멸망한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포스트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아포칼립스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세계관에서</a:t>
            </a:r>
          </a:p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위험한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폐허를 떠돌며 자원을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수집해나가는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RPG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>
              <a:lnSpc>
                <a:spcPct val="150000"/>
              </a:lnSpc>
            </a:pP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빈딕투스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디파인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페이트를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레퍼런스로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프로젝트를 진행하며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콤보를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통한 공격과 스킬 사용을 중점으로 작업했습니다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그저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콤보를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난타하는 것이 아니라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상황에 따라 전략적으로 액션을 취할 수 있도록 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액션을 통한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부여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기능과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시스템을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 소개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18" name="직선 연결선 17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540000" y="1032837"/>
            <a:ext cx="11112000" cy="3304213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181570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구조</a:t>
            </a:r>
          </a:p>
        </p:txBody>
      </p:sp>
      <p:cxnSp>
        <p:nvCxnSpPr>
          <p:cNvPr id="38" name="직선 연결선 37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직사각형 6"/>
          <p:cNvSpPr/>
          <p:nvPr/>
        </p:nvSpPr>
        <p:spPr>
          <a:xfrm>
            <a:off x="444751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주요 클래스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444751" y="1234126"/>
            <a:ext cx="6006917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게임에서 전역적으로 사용하는 매니저 클래스들의 구성입니다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000" y="2003566"/>
            <a:ext cx="11112000" cy="3445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07508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구조</a:t>
            </a:r>
          </a:p>
        </p:txBody>
      </p:sp>
      <p:cxnSp>
        <p:nvCxnSpPr>
          <p:cNvPr id="38" name="직선 연결선 37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직사각형 6"/>
          <p:cNvSpPr/>
          <p:nvPr/>
        </p:nvSpPr>
        <p:spPr>
          <a:xfrm>
            <a:off x="444751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주요 클래스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444751" y="1234126"/>
            <a:ext cx="6006917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게임 진행에 관련된 클래스의 구성입니다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pic>
        <p:nvPicPr>
          <p:cNvPr id="12" name="그림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999" y="1777308"/>
            <a:ext cx="11112001" cy="39844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60742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구조</a:t>
            </a:r>
          </a:p>
        </p:txBody>
      </p:sp>
      <p:cxnSp>
        <p:nvCxnSpPr>
          <p:cNvPr id="38" name="직선 연결선 37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직사각형 6"/>
          <p:cNvSpPr/>
          <p:nvPr/>
        </p:nvSpPr>
        <p:spPr>
          <a:xfrm>
            <a:off x="444751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주요 클래스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444751" y="1234126"/>
            <a:ext cx="6006917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전투 진행에 관련된 클래스들의 구성입니다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pic>
        <p:nvPicPr>
          <p:cNvPr id="9" name="그림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0566" y="1870362"/>
            <a:ext cx="9610867" cy="40582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931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507144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조작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Enhanced Input System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이용하여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이동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회피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상호작용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단축키 입력 기능을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PlayerController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세분화하여 레벨의 성격에 따라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필요한 입력을 받을 수 있도록 작업했습니다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138404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PlayerController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2" name="직사각형 1"/>
          <p:cNvSpPr/>
          <p:nvPr/>
        </p:nvSpPr>
        <p:spPr>
          <a:xfrm>
            <a:off x="6585735" y="1334908"/>
            <a:ext cx="5106256" cy="182914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/>
          <p:cNvSpPr/>
          <p:nvPr/>
        </p:nvSpPr>
        <p:spPr>
          <a:xfrm>
            <a:off x="540000" y="4364074"/>
            <a:ext cx="2501151" cy="194425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/>
          <p:cNvSpPr/>
          <p:nvPr/>
        </p:nvSpPr>
        <p:spPr>
          <a:xfrm>
            <a:off x="6585735" y="3603786"/>
            <a:ext cx="5106256" cy="182914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/>
          <p:cNvSpPr/>
          <p:nvPr/>
        </p:nvSpPr>
        <p:spPr>
          <a:xfrm>
            <a:off x="3463646" y="4364074"/>
            <a:ext cx="2632353" cy="194425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/>
          <p:cNvSpPr/>
          <p:nvPr/>
        </p:nvSpPr>
        <p:spPr>
          <a:xfrm>
            <a:off x="1234380" y="4117853"/>
            <a:ext cx="118884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전투 지역 입력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4119801" y="4117852"/>
            <a:ext cx="118884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비전투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지역 입력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541480" y="2730876"/>
            <a:ext cx="5554519" cy="119385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/>
          <p:cNvSpPr/>
          <p:nvPr/>
        </p:nvSpPr>
        <p:spPr>
          <a:xfrm>
            <a:off x="1850277" y="3229987"/>
            <a:ext cx="266007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PlayerController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Class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상속 구조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6163231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280237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기능 </a:t>
            </a: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: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스탯과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효과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공격력 같은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관리하는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컴포넌트입니다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캐릭터가 가진 기본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스택뿐만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아니라 장비와 효과로 얻은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반영할 수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게이지과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같은 요소는 일종의 자원으로 처리합니다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자원 요소들은 값 변동과 고갈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이벤트를 발행하여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UI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연동하는 등의 용도로 사용했습니다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자원 중에서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스킬 게이지는 캐릭터의 액션과 함께 사용됩니다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스태미너는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액션을 중이지 않다면 천천히 회복되고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모든 액션은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소모하여 작동합니다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 중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되면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5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초간 천천히 걸으며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회복되지 않는 페널티 기능을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게이지는 전투 중 획득 가능하고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액션에 부여된 효과가 스킬 게이지를 소모하여 발동합니다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UStatComponent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2" name="직사각형 1"/>
          <p:cNvSpPr/>
          <p:nvPr/>
        </p:nvSpPr>
        <p:spPr>
          <a:xfrm>
            <a:off x="540000" y="3390472"/>
            <a:ext cx="2669069" cy="294868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캐릭터 정비 </a:t>
            </a:r>
            <a:r>
              <a:rPr lang="en-US" altLang="ko-KR" dirty="0" smtClean="0"/>
              <a:t>UI</a:t>
            </a:r>
            <a:endParaRPr lang="ko-KR" altLang="en-US" dirty="0"/>
          </a:p>
        </p:txBody>
      </p:sp>
      <p:sp>
        <p:nvSpPr>
          <p:cNvPr id="12" name="직사각형 11"/>
          <p:cNvSpPr/>
          <p:nvPr/>
        </p:nvSpPr>
        <p:spPr>
          <a:xfrm>
            <a:off x="3359649" y="3390472"/>
            <a:ext cx="2736351" cy="294868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전투 시</a:t>
            </a:r>
            <a:r>
              <a:rPr lang="en-US" altLang="ko-KR" dirty="0"/>
              <a:t> 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 smtClean="0"/>
              <a:t>캐릭터 </a:t>
            </a:r>
            <a:r>
              <a:rPr lang="ko-KR" altLang="en-US" dirty="0" err="1" smtClean="0"/>
              <a:t>체력바</a:t>
            </a:r>
            <a:r>
              <a:rPr lang="ko-KR" altLang="en-US" dirty="0" smtClean="0"/>
              <a:t> </a:t>
            </a:r>
            <a:r>
              <a:rPr lang="en-US" altLang="ko-KR" dirty="0" smtClean="0"/>
              <a:t>UI</a:t>
            </a:r>
            <a:endParaRPr lang="ko-KR" altLang="en-US" dirty="0"/>
          </a:p>
        </p:txBody>
      </p:sp>
      <p:sp>
        <p:nvSpPr>
          <p:cNvPr id="13" name="직사각형 12"/>
          <p:cNvSpPr/>
          <p:nvPr/>
        </p:nvSpPr>
        <p:spPr>
          <a:xfrm>
            <a:off x="6666334" y="513837"/>
            <a:ext cx="5179769" cy="206172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스탯</a:t>
            </a:r>
            <a:r>
              <a:rPr lang="ko-KR" altLang="en-US" dirty="0"/>
              <a:t> </a:t>
            </a:r>
            <a:r>
              <a:rPr lang="ko-KR" altLang="en-US" dirty="0" smtClean="0"/>
              <a:t>관련 주요 코드</a:t>
            </a:r>
            <a:endParaRPr lang="ko-KR" altLang="en-US" dirty="0"/>
          </a:p>
        </p:txBody>
      </p:sp>
      <p:sp>
        <p:nvSpPr>
          <p:cNvPr id="14" name="직사각형 13"/>
          <p:cNvSpPr/>
          <p:nvPr/>
        </p:nvSpPr>
        <p:spPr>
          <a:xfrm>
            <a:off x="6666333" y="2885455"/>
            <a:ext cx="5179769" cy="200404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스탯</a:t>
            </a:r>
            <a:r>
              <a:rPr lang="ko-KR" altLang="en-US" dirty="0" smtClean="0"/>
              <a:t> 구독 코드</a:t>
            </a:r>
            <a:endParaRPr lang="ko-KR" altLang="en-US" dirty="0"/>
          </a:p>
        </p:txBody>
      </p:sp>
      <p:sp>
        <p:nvSpPr>
          <p:cNvPr id="15" name="직사각형 14"/>
          <p:cNvSpPr/>
          <p:nvPr/>
        </p:nvSpPr>
        <p:spPr>
          <a:xfrm>
            <a:off x="6666333" y="5067300"/>
            <a:ext cx="5179769" cy="127185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자원 </a:t>
            </a:r>
            <a:r>
              <a:rPr lang="ko-KR" altLang="en-US" dirty="0" err="1" smtClean="0"/>
              <a:t>스탯</a:t>
            </a:r>
            <a:r>
              <a:rPr lang="ko-KR" altLang="en-US" dirty="0" smtClean="0"/>
              <a:t> 사용 코드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373934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106765"/>
            <a:ext cx="5651249" cy="24006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적용하는 효과 클래스입니다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 기능들이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영향을 준다는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공통점에 착안하여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모든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효과를 등록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해제하고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관리하도록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외부에서 직접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접근하는 과정에서 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대한 의존성이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발생하지 않도록 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IEffectHandler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ApplyEffect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구현하도록 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그리고 새로운 효과를 추가하기 쉽도록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활용했습니다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상위 클래스의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Activate()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호출하면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클래스에서 재정의한 구체적인 효과가 실행되도록 구조를 잡았습니다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주요 하위 클래스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TermEffect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 유지되어 효과를 부여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PeriodicalEffect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주기마다 효과를 부여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EventEffect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액터가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특정한 조건을 만족할 때 효과를 부여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피격 시 발동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860544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UEffect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6666334" y="1707802"/>
            <a:ext cx="5179769" cy="25456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스탯에서</a:t>
            </a:r>
            <a:r>
              <a:rPr lang="ko-KR" altLang="en-US" dirty="0" smtClean="0"/>
              <a:t> 등록</a:t>
            </a:r>
            <a:r>
              <a:rPr lang="en-US" altLang="ko-KR" dirty="0" smtClean="0"/>
              <a:t>, </a:t>
            </a:r>
            <a:r>
              <a:rPr lang="ko-KR" altLang="en-US" dirty="0" smtClean="0"/>
              <a:t>제거하는 코드</a:t>
            </a:r>
            <a:endParaRPr lang="ko-KR" altLang="en-US" dirty="0"/>
          </a:p>
        </p:txBody>
      </p:sp>
      <p:sp>
        <p:nvSpPr>
          <p:cNvPr id="10" name="직사각형 9"/>
          <p:cNvSpPr/>
          <p:nvPr/>
        </p:nvSpPr>
        <p:spPr>
          <a:xfrm>
            <a:off x="6666333" y="433872"/>
            <a:ext cx="5179769" cy="113807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인터페이스 코드</a:t>
            </a:r>
            <a:endParaRPr lang="ko-KR" altLang="en-US" dirty="0"/>
          </a:p>
        </p:txBody>
      </p:sp>
      <p:sp>
        <p:nvSpPr>
          <p:cNvPr id="13" name="직사각형 12"/>
          <p:cNvSpPr/>
          <p:nvPr/>
        </p:nvSpPr>
        <p:spPr>
          <a:xfrm>
            <a:off x="540000" y="3753643"/>
            <a:ext cx="5565524" cy="268067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이펙트</a:t>
            </a:r>
            <a:r>
              <a:rPr lang="ko-KR" altLang="en-US" dirty="0" smtClean="0"/>
              <a:t> 클래스 상속 구조</a:t>
            </a:r>
            <a:endParaRPr lang="ko-KR" altLang="en-US" dirty="0"/>
          </a:p>
        </p:txBody>
      </p:sp>
      <p:sp>
        <p:nvSpPr>
          <p:cNvPr id="12" name="직사각형 11"/>
          <p:cNvSpPr/>
          <p:nvPr/>
        </p:nvSpPr>
        <p:spPr>
          <a:xfrm>
            <a:off x="6666333" y="4389357"/>
            <a:ext cx="5179769" cy="204496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이펙트</a:t>
            </a:r>
            <a:r>
              <a:rPr lang="ko-KR" altLang="en-US" dirty="0" smtClean="0"/>
              <a:t> 발동</a:t>
            </a:r>
            <a:r>
              <a:rPr lang="en-US" altLang="ko-KR" dirty="0" smtClean="0"/>
              <a:t>, </a:t>
            </a:r>
            <a:r>
              <a:rPr lang="ko-KR" altLang="en-US" dirty="0" smtClean="0"/>
              <a:t>발동 해제 코드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628890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106765"/>
            <a:ext cx="565124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 값을 설정해두기 위한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설정해둔 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액션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에셋이나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아이템에 유연하게 할당할 수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 무기의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컨셉에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맞게 동일한 유형의 효과를 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에셋으로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모듈화하고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효과를 여러 액션에서 할당하여 재사용하는 방식으로 사용할 수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860544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UEffectData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6666333" y="315047"/>
            <a:ext cx="5179769" cy="343776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액션 도중 적용하는 코드</a:t>
            </a:r>
            <a:endParaRPr lang="ko-KR" altLang="en-US" dirty="0"/>
          </a:p>
        </p:txBody>
      </p:sp>
      <p:sp>
        <p:nvSpPr>
          <p:cNvPr id="16" name="직사각형 15"/>
          <p:cNvSpPr/>
          <p:nvPr/>
        </p:nvSpPr>
        <p:spPr>
          <a:xfrm>
            <a:off x="6666333" y="3865389"/>
            <a:ext cx="5179769" cy="264881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아이템 사용 시</a:t>
            </a:r>
            <a:r>
              <a:rPr lang="en-US" altLang="ko-KR" dirty="0" smtClean="0"/>
              <a:t>, </a:t>
            </a:r>
            <a:r>
              <a:rPr lang="ko-KR" altLang="en-US" dirty="0" smtClean="0"/>
              <a:t>적용하는 코드</a:t>
            </a:r>
            <a:endParaRPr lang="ko-KR" altLang="en-US" dirty="0"/>
          </a:p>
        </p:txBody>
      </p:sp>
      <p:sp>
        <p:nvSpPr>
          <p:cNvPr id="17" name="직사각형 16"/>
          <p:cNvSpPr/>
          <p:nvPr/>
        </p:nvSpPr>
        <p:spPr>
          <a:xfrm>
            <a:off x="540001" y="3865389"/>
            <a:ext cx="5565524" cy="12704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액션에서 사용하는 데이터 객체</a:t>
            </a:r>
            <a:endParaRPr lang="ko-KR" altLang="en-US" dirty="0"/>
          </a:p>
        </p:txBody>
      </p:sp>
      <p:sp>
        <p:nvSpPr>
          <p:cNvPr id="18" name="직사각형 17"/>
          <p:cNvSpPr/>
          <p:nvPr/>
        </p:nvSpPr>
        <p:spPr>
          <a:xfrm>
            <a:off x="540001" y="5248383"/>
            <a:ext cx="5565524" cy="126582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액션</a:t>
            </a:r>
            <a:r>
              <a:rPr lang="en-US" altLang="ko-KR" dirty="0" smtClean="0"/>
              <a:t>, </a:t>
            </a:r>
            <a:r>
              <a:rPr lang="ko-KR" altLang="en-US" dirty="0" smtClean="0"/>
              <a:t>아이템에서 사용하는 데이터 객체</a:t>
            </a:r>
            <a:endParaRPr lang="ko-KR" altLang="en-US" dirty="0"/>
          </a:p>
        </p:txBody>
      </p:sp>
      <p:sp>
        <p:nvSpPr>
          <p:cNvPr id="12" name="직사각형 11"/>
          <p:cNvSpPr/>
          <p:nvPr/>
        </p:nvSpPr>
        <p:spPr>
          <a:xfrm>
            <a:off x="540001" y="2270589"/>
            <a:ext cx="5565524" cy="148222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이펙트</a:t>
            </a:r>
            <a:r>
              <a:rPr lang="ko-KR" altLang="en-US" dirty="0" smtClean="0"/>
              <a:t> 데이터 객체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246087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327846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기능 </a:t>
            </a:r>
            <a:r>
              <a:rPr lang="en-US" altLang="ko-KR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: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액션과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콤보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연계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116955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회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피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상호작용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등의 애니메이션을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처리하는 컴포넌트입니다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여러 동작을 하나의 액션으로 모듈화하여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액션과 이어진 액션을 연계하는 기능을 개발했습니다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 실행에 필요한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소모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로직은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직접적인 참조를 피하기 위해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델리게이트로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처리했습니다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APlayerCharacter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TryUseStamina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바인딩 해주었고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 실행 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델리게이트를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호출하여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사용 가능 여부를 확인하는 구조입니다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33179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UPlayerActionComponent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463799" y="3050007"/>
            <a:ext cx="565124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액션은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3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가지 유형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공격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강공격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있고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각각의 공격 유형의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입력받아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처리합니다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액션들 간에 사전에 설정된 연결 정보를 기반으로 연속적으로 액션을 수행합니다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액션이 실행되고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2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초간 연결된 공격유형에 해당하는 입력이 들어오면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다음 공격이 실행되는 방식입니다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0" name="직사각형 9"/>
          <p:cNvSpPr/>
          <p:nvPr/>
        </p:nvSpPr>
        <p:spPr>
          <a:xfrm>
            <a:off x="454275" y="2803786"/>
            <a:ext cx="33179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콤보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연계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3328827" y="4158001"/>
            <a:ext cx="2767173" cy="217087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콤보</a:t>
            </a:r>
            <a:r>
              <a:rPr lang="ko-KR" altLang="en-US" dirty="0" smtClean="0"/>
              <a:t> 연계 이미지</a:t>
            </a:r>
            <a:endParaRPr lang="ko-KR" altLang="en-US" dirty="0"/>
          </a:p>
        </p:txBody>
      </p:sp>
      <p:sp>
        <p:nvSpPr>
          <p:cNvPr id="13" name="직사각형 12"/>
          <p:cNvSpPr/>
          <p:nvPr/>
        </p:nvSpPr>
        <p:spPr>
          <a:xfrm>
            <a:off x="6666333" y="315046"/>
            <a:ext cx="5179769" cy="233485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 smtClean="0"/>
              <a:t>APlayerCharacter</a:t>
            </a:r>
            <a:endParaRPr lang="en-US" altLang="ko-KR" dirty="0" smtClean="0"/>
          </a:p>
          <a:p>
            <a:pPr algn="ctr"/>
            <a:r>
              <a:rPr lang="en-US" altLang="ko-KR" dirty="0" err="1" smtClean="0"/>
              <a:t>TryUseStamina</a:t>
            </a:r>
            <a:r>
              <a:rPr lang="en-US" altLang="ko-KR" dirty="0" smtClean="0"/>
              <a:t> </a:t>
            </a:r>
            <a:r>
              <a:rPr lang="ko-KR" altLang="en-US" dirty="0" smtClean="0"/>
              <a:t>바인딩</a:t>
            </a:r>
            <a:endParaRPr lang="ko-KR" altLang="en-US" dirty="0"/>
          </a:p>
        </p:txBody>
      </p:sp>
      <p:sp>
        <p:nvSpPr>
          <p:cNvPr id="14" name="직사각형 13"/>
          <p:cNvSpPr/>
          <p:nvPr/>
        </p:nvSpPr>
        <p:spPr>
          <a:xfrm>
            <a:off x="6666333" y="2803786"/>
            <a:ext cx="5179769" cy="352509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액션 호출 코드</a:t>
            </a:r>
            <a:endParaRPr lang="ko-KR" altLang="en-US" dirty="0"/>
          </a:p>
        </p:txBody>
      </p:sp>
      <p:sp>
        <p:nvSpPr>
          <p:cNvPr id="15" name="직사각형 14"/>
          <p:cNvSpPr/>
          <p:nvPr/>
        </p:nvSpPr>
        <p:spPr>
          <a:xfrm>
            <a:off x="540001" y="4158001"/>
            <a:ext cx="2490876" cy="217087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공격 입력 종류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40048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106765"/>
            <a:ext cx="5651249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액션을 모듈화한 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액션으로 실행할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UAnimMontage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할당하고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몽타주에서 설정한 노티파이를 이용하여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액션의 세부적인 동작을 수행합니다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액션의 경우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AnimNotify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상속한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UAttackNotify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사용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UAttackNotify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멤버 변수로 특정 인덱스를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설정해서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액션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중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동작에 대한 타격 범위나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데미지를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세분화하여 설정하도록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UAttackNotify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경우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뿐만 아니라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몬스터도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사용합니다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그러므로 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클래스에 의존하지 않도록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IAttackNotifyHandler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사용합니다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HandleAttackNotify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구현하여 몽타주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재생 중 정확한 시점의 타격 및 세분화된 공격 동작을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수행합니다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860544"/>
            <a:ext cx="33179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UAction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463799" y="3291978"/>
            <a:ext cx="565124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액션이 진행하는 과정에서 효과를 적용할 수 있도록 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원하는 시점에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UEffectData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할당하여 효과를 적용할 수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효과는 </a:t>
            </a:r>
          </a:p>
        </p:txBody>
      </p:sp>
      <p:sp>
        <p:nvSpPr>
          <p:cNvPr id="7" name="직사각형 6"/>
          <p:cNvSpPr/>
          <p:nvPr/>
        </p:nvSpPr>
        <p:spPr>
          <a:xfrm>
            <a:off x="454275" y="3045757"/>
            <a:ext cx="33179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액션 실행 중 효과 발동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0136683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106765"/>
            <a:ext cx="5651249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액션을 모듈화한 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액션으로 실행할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UAnimMontage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할당하고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몽타주에서 설정한 노티파이를 이용하여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액션의 세부적인 동작을 수행합니다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액션의 경우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AnimNotify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상속한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UAttackNotify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사용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UAttackNotify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멤버 변수로 특정 인덱스를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설정해서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액션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중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동작에 대한 타격 범위나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데미지를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세분화하여 설정하도록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UAttackNotify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경우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뿐만 아니라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몬스터도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사용합니다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그러므로 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클래스에 의존하지 않도록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IAttackNotifyHandler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사용합니다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HandleAttackNotify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구현하여 몽타주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재생 중 정확한 시점의 타격 및 세분화된 공격 동작을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수행합니다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액션의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진행 중 발생하는 이벤트에 따라 지정한 효과를 얻거나 대상에게 부여할 수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44751" y="860544"/>
            <a:ext cx="33179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UAction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5771448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211468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기능 </a:t>
            </a: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: 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스킬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USkillUpgrade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성장시킬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스킬의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내용을 나타내는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DataAsset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AdjustSkillNode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통해서 플레이어의 액션 그래프에 스킬 성장 반영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USkillNodeUnlockAction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액션의 후속 액션을 해금하는 기능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USkillNodeModifyEffect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액션이 기존에 가진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수치를 변경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USkillNodeExtendEffect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액션에 새로운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이펙트를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추가하는 기능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USkillNodeModifySpec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액션의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데미지량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소모량 등을 변경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USkillTreeData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스킬을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강화 가능하도록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USkillUpgrade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트리 형태로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구성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계열의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스킬노드를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선택해야 자식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노드로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넘어가게끔 구현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스킬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022415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219483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데이터 저장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레벨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경험치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보유한 재화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정보등을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저장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444255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USaveGame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상속한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UPlayerSaveGame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6676647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2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종류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공통 사항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 동일하게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영향을 받을 수 있도록 함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MonsterActionComponent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경우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 다르게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콤보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연계의 기능이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필요없으므로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간략화한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형태로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BT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릁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통해서 입력된 공격 액션을 수행하도록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MonsterData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경우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외형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데이터테이블을 통해서 구성하도록 구조를 잡음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그리고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데이터테이블의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ID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가지고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던전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스테이지에 사용할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몬스터들의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구성할 수 있도록 함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537692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공통사항과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데이터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444751" y="3065395"/>
            <a:ext cx="5651249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종류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 진행에서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몬스터는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일반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두 종류로 구현이 가능했음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비교적 간단한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BT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구조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피격 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넉백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기능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</a:t>
            </a: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여러 공격 액션과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액션을 위한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BT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구조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수행 기능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729094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2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일반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BehaviorTree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활용한 행동 양식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상태일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주변을 돌아다니며 탐색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BTService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상속하여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FindPlayerService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마다 주변에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SphereTrace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하여 적을 탐색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적을 발견하면 공격 상태로 전환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상태일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타겟에게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다가가며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범위 내일 때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공격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BTTask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상속하여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AttackTask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가진 액션 중 랜덤으로 공격 액션을 수행하도록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추적 불가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</a:t>
            </a: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시간 동안 적에게 다가가지 못하는 상황일 때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다시 일반 상태로 복귀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BT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구조 이미지 첨부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537692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일반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3587470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2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보스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270843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몬스터는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수행할 수 있도록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액션마다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씩 스킬 포인트를 얻고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이상 스킬 포인트가 모이면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액션을 수행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액션 종류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카운터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보스가 정면으로 이동하며 공격함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정면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기준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120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도 이내 방향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스매시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공격 시 파훼 가능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무력화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보스가 일정 시간 동안 무력화 가능 상태가 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무력화 게이지를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으로 만들지 못하면 일정 시간 후 매우 강력한 공격을 수행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BT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상태일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랜덤한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곳을 돌아다니며 탐색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FindPlayer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이용하여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 주변을 탐색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발견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상태로 전환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플레이어와의 거리를 확인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085850" lvl="2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공격이 불가한 거리라면 추적하며 원거리 공격을 수행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085850" lvl="2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공격이 가능하면 일반 공격 중 랜덤으로 한 개 수행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085850" lvl="2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만약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포인트가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10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이상 모여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행동이 가능하다면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수행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138404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보스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기능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8289200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3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03105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스테이지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17851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StageData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레벨을 구성하는 구역에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스폰될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몬스터들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ID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와 개수를 가지고 있음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클리어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보상 아이템 및 재화도 포함됨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스테이지는 몇 개의 구역으로 구성되어 있고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모든 구역을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클리어하면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스테이지 종료됨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은 레벨 배치되어 있고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Index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부여하여 각각의 구역을 표시함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들어서면 설정된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Index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통해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몬스터들을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생성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생성된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몬스터들을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모두 쓰러뜨리면 해당 구역이 완료됨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레벨에서 생성할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몬스터들은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각 구역에서 새로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스폰하는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것이 아니라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ObjectPoolManager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등록되어 재사용됨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242775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레벨과 스테이지 데이터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0352329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3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507144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스테이지 진행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33239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 진행은 발행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-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구독 모델을 확장한 이벤트 버스 방식으로 진행함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각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액터들이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직접적으로 의존 관계를 맺지 않도록 하기 위해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GameMode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통한 이벤트 기반으로 작업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 진행에 발생하는 이벤트 종류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사망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사망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구역 완료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진행에 필요한 주된 데이터는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GameState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관리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각 구역의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클리어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여부를 보관 중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GameState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는 게임 시작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GameMode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구역 완료 이벤트를 구독함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은 게임 시작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CombatGameMode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사망에 해당하는 이벤트를 구독해둠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몬스터는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생성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자신이 속한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Index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전달받아 소속을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지정받음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그리고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죽으면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CombatGameMode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사망 이벤트 발행과 함께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소속 구역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Index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전달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앞선 구독했던 이벤트를 통해서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사망을 전달받음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그리고 구역의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모두 죽었다면 구역 완료 이벤트를 발행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구역 완료 이벤트가 발행되면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GameState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해당 구역을 완료처리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모든 구역이 완료되면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GameMode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게임 완료 처리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242775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이벤트 기반 진행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3769763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트러블슈팅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454275" y="1234126"/>
            <a:ext cx="1072730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문제 발생과 원인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19" name="직선 연결선 18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454275" y="710906"/>
            <a:ext cx="277672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랜드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스케이프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적용 후 에러</a:t>
            </a: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9" name="직사각형 8"/>
          <p:cNvSpPr/>
          <p:nvPr/>
        </p:nvSpPr>
        <p:spPr>
          <a:xfrm>
            <a:off x="454275" y="3850226"/>
            <a:ext cx="688009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해결 방법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454275" y="1480347"/>
            <a:ext cx="8755039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문제 발생 배경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기반 기능 구현 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게임을 진행하기 위한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레벨이 필요했고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가지고 레벨을 만들어 테스트하던 도중 에러 발생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원인 분석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nullptr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반환으로 인한 에러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기존 테스트에 쓰던 레벨에선 발생하지 않는 것을 확인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새로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작업 중인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레벨과의 차이점이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 여부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기존 테스트 레벨에서 바닥은 넓은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큐브를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스케이프는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일반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스태틱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메쉬와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달리 충돌 설정과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Z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축 높이 문제가 있었음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충돌하며 실패 처리되어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nullptr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반환된 것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454274" y="4096447"/>
            <a:ext cx="8755039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FActorSpawnParameters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SpawnCollisionHandlingOverride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설정을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AlwaysSpawn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변경 후 해결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충돌하거나 겹치더라도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스폰하도록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설정</a:t>
            </a:r>
            <a:r>
              <a:rPr lang="ko-KR" altLang="en-US" sz="1000" dirty="0"/>
              <a:t>인</a:t>
            </a:r>
            <a:endParaRPr lang="en-US" altLang="ko-KR" sz="1000" dirty="0"/>
          </a:p>
        </p:txBody>
      </p:sp>
    </p:spTree>
    <p:extLst>
      <p:ext uri="{BB962C8B-B14F-4D97-AF65-F5344CB8AC3E}">
        <p14:creationId xmlns:p14="http://schemas.microsoft.com/office/powerpoint/2010/main" val="16743604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트러블슈팅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19" name="직선 연결선 18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454275" y="710906"/>
            <a:ext cx="306686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레벨 시퀀스 적용 후</a:t>
            </a: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빌드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에러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454275" y="1234126"/>
            <a:ext cx="1072730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문제 발생과 원인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454275" y="2588342"/>
            <a:ext cx="688009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해결 방법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454275" y="1480347"/>
            <a:ext cx="875503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등장 연출을 위해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 시퀀스를 이용한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컷씬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작업 후 발생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에디터를 통한 테스트 이후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빌드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테스트를 진행하다 에러가 발생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에러 로그를 살펴보니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DataManager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초기화 중 스테이지 데이터 테이블을 참조하는 과정에서 문제가 발생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 데이터 테이블에서 레벨 시퀀스를 참조하고 있고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 시퀀스에서 사용하는 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아직 등록되지 않아 문제가 발생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454274" y="2834563"/>
            <a:ext cx="8755039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등록되지 않았다는 로그를 보고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빌드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누락이 발생했다고 생각하여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세팅에서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패키징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반드시 포함하도록 설정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그럼에도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빌드는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실패했고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동일한 에러 로그가 출력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누락이 아니라 데이터테이블에서 레벨 시퀀스를 직접 참조하기 때문에 발생한 것이라 판단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검증을 위해서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데이터테이블에서 레벨 시퀀스를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TObjectPtr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아닌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TSoftObjectPtr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로 설정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레퍼런스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-&gt;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소프트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레퍼런스로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변경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다시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빌드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시도에서 성공한 것을 확인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 시퀀스를 사용하는 부분에서 레벨 시퀀스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비동기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로드하도록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변경 후 사용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004395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보완점 및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반성점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19" name="직선 연결선 18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454275" y="710906"/>
            <a:ext cx="3733714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Game </a:t>
            </a:r>
            <a:r>
              <a:rPr lang="en-US" altLang="ko-KR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Ability System 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기능 미사용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454275" y="1234126"/>
            <a:ext cx="9212239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현재 프로젝트의 액션이나 효과 적용 기능이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Unreal Engine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자체적으로 제공하는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 Ability System(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이하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GAS)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와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구조적으로 유사했다는 것을 나중에 알게 됐습니다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구조를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GAS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로 변경한다면 어떻게 변경할지 정리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960968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4195</TotalTime>
  <Words>2294</Words>
  <Application>Microsoft Office PowerPoint</Application>
  <PresentationFormat>와이드스크린</PresentationFormat>
  <Paragraphs>587</Paragraphs>
  <Slides>23</Slides>
  <Notes>22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23</vt:i4>
      </vt:variant>
    </vt:vector>
  </HeadingPairs>
  <TitlesOfParts>
    <vt:vector size="31" baseType="lpstr">
      <vt:lpstr>Noto Sans KR DemiLight</vt:lpstr>
      <vt:lpstr>Noto Sans KR ExtraBold</vt:lpstr>
      <vt:lpstr>Noto Sans KR Light</vt:lpstr>
      <vt:lpstr>Noto Sans KR Medium</vt:lpstr>
      <vt:lpstr>맑은 고딕</vt:lpstr>
      <vt:lpstr>Arial</vt:lpstr>
      <vt:lpstr>Open Sans ExtraBold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user</cp:lastModifiedBy>
  <cp:revision>1831</cp:revision>
  <dcterms:created xsi:type="dcterms:W3CDTF">2025-12-03T02:34:26Z</dcterms:created>
  <dcterms:modified xsi:type="dcterms:W3CDTF">2026-03-21T04:14:48Z</dcterms:modified>
</cp:coreProperties>
</file>