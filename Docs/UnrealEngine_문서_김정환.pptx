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8" r:id="rId2"/>
    <p:sldId id="259" r:id="rId3"/>
    <p:sldId id="260" r:id="rId4"/>
    <p:sldId id="261" r:id="rId5"/>
    <p:sldId id="295" r:id="rId6"/>
    <p:sldId id="296" r:id="rId7"/>
    <p:sldId id="286" r:id="rId8"/>
    <p:sldId id="288" r:id="rId9"/>
    <p:sldId id="298" r:id="rId10"/>
    <p:sldId id="299" r:id="rId11"/>
    <p:sldId id="287" r:id="rId12"/>
    <p:sldId id="300" r:id="rId13"/>
    <p:sldId id="297" r:id="rId14"/>
    <p:sldId id="291" r:id="rId15"/>
    <p:sldId id="301" r:id="rId16"/>
    <p:sldId id="289" r:id="rId17"/>
    <p:sldId id="272" r:id="rId18"/>
    <p:sldId id="292" r:id="rId19"/>
    <p:sldId id="302" r:id="rId20"/>
    <p:sldId id="290" r:id="rId21"/>
    <p:sldId id="293" r:id="rId22"/>
    <p:sldId id="294" r:id="rId23"/>
    <p:sldId id="265" r:id="rId24"/>
    <p:sldId id="276" r:id="rId25"/>
    <p:sldId id="284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D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5" autoAdjust="0"/>
    <p:restoredTop sz="87326" autoAdjust="0"/>
  </p:normalViewPr>
  <p:slideViewPr>
    <p:cSldViewPr snapToGrid="0" showGuides="1">
      <p:cViewPr varScale="1">
        <p:scale>
          <a:sx n="100" d="100"/>
          <a:sy n="100" d="100"/>
        </p:scale>
        <p:origin x="936" y="96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80C216-7AC4-482D-A25B-339B4E373C44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4B0AFA-6D7F-4C31-A334-420C28DC40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93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 smtClean="0"/>
              <a:t>객체지향 기본기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이벤트 활용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엔진 기능 활용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프로젝트 소개</a:t>
            </a:r>
            <a:endParaRPr lang="en-US" altLang="ko-KR" dirty="0" smtClean="0"/>
          </a:p>
          <a:p>
            <a:pPr marL="0" indent="0">
              <a:buNone/>
            </a:pPr>
            <a:r>
              <a:rPr lang="en-US" altLang="ko-KR" dirty="0" smtClean="0"/>
              <a:t>- </a:t>
            </a:r>
            <a:r>
              <a:rPr lang="ko-KR" altLang="en-US" dirty="0" smtClean="0"/>
              <a:t>프로젝트 진행하면서 구현하고자 했던 의도를 여기서 언급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핵심기능</a:t>
            </a:r>
            <a:endParaRPr lang="en-US" altLang="ko-KR" dirty="0" smtClean="0"/>
          </a:p>
          <a:p>
            <a:pPr marL="228600" indent="-228600">
              <a:buFontTx/>
              <a:buAutoNum type="arabicPeriod"/>
            </a:pPr>
            <a:r>
              <a:rPr lang="ko-KR" altLang="en-US" baseline="0" dirty="0" smtClean="0"/>
              <a:t>플레이어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조작 </a:t>
            </a: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컨트롤러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액션 구성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dirty="0" err="1" smtClean="0"/>
              <a:t>콤보</a:t>
            </a:r>
            <a:r>
              <a:rPr lang="ko-KR" altLang="en-US" dirty="0" smtClean="0"/>
              <a:t> 연결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스킬 기능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err="1" smtClean="0"/>
              <a:t>스탯</a:t>
            </a:r>
            <a:r>
              <a:rPr lang="ko-KR" altLang="en-US" dirty="0" smtClean="0"/>
              <a:t> 기능</a:t>
            </a:r>
            <a:endParaRPr lang="en-US" altLang="ko-KR" dirty="0" smtClean="0"/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상호작용 및 타격 </a:t>
            </a:r>
            <a:r>
              <a:rPr lang="en-US" altLang="ko-KR" dirty="0" smtClean="0"/>
              <a:t>(</a:t>
            </a:r>
            <a:r>
              <a:rPr lang="ko-KR" altLang="en-US" dirty="0" smtClean="0"/>
              <a:t>인터페이스</a:t>
            </a:r>
            <a:r>
              <a:rPr lang="en-US" altLang="ko-KR" dirty="0" smtClean="0"/>
              <a:t>)</a:t>
            </a:r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dirty="0" smtClean="0"/>
              <a:t>Trace</a:t>
            </a:r>
            <a:r>
              <a:rPr lang="ko-KR" altLang="en-US" dirty="0" smtClean="0"/>
              <a:t>를 이용한 탐지 및 사용</a:t>
            </a:r>
            <a:endParaRPr lang="en-US" altLang="ko-KR" dirty="0" smtClean="0"/>
          </a:p>
          <a:p>
            <a:pPr marL="0" indent="0">
              <a:buFontTx/>
              <a:buNone/>
            </a:pPr>
            <a:r>
              <a:rPr lang="en-US" altLang="ko-KR" dirty="0" smtClean="0"/>
              <a:t>2.</a:t>
            </a:r>
            <a:r>
              <a:rPr lang="en-US" altLang="ko-KR" baseline="0" dirty="0" smtClean="0"/>
              <a:t>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구성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보스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AI BT</a:t>
            </a:r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BT Task, Service, Decorator</a:t>
            </a:r>
          </a:p>
          <a:p>
            <a:pPr marL="628650" lvl="1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액션 세부 동작을 위한 </a:t>
            </a:r>
            <a:r>
              <a:rPr lang="en-US" altLang="ko-KR" baseline="0" dirty="0" err="1" smtClean="0"/>
              <a:t>AnimNotify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AnimNotifyState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3. </a:t>
            </a:r>
            <a:r>
              <a:rPr lang="ko-KR" altLang="en-US" baseline="0" dirty="0" smtClean="0"/>
              <a:t>스테이지 </a:t>
            </a:r>
            <a:r>
              <a:rPr lang="en-US" altLang="ko-KR" baseline="0" dirty="0" smtClean="0"/>
              <a:t>(</a:t>
            </a:r>
            <a:r>
              <a:rPr lang="ko-KR" altLang="en-US" baseline="0" dirty="0" smtClean="0"/>
              <a:t>게임 진행</a:t>
            </a:r>
            <a:r>
              <a:rPr lang="en-US" altLang="ko-KR" baseline="0" dirty="0" smtClean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스테이지 섹션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baseline="0" dirty="0" smtClean="0"/>
              <a:t>연출용 </a:t>
            </a:r>
            <a:r>
              <a:rPr lang="ko-KR" altLang="en-US" baseline="0" dirty="0" err="1" smtClean="0"/>
              <a:t>컷씬</a:t>
            </a:r>
            <a:r>
              <a:rPr lang="ko-KR" altLang="en-US" baseline="0" dirty="0" smtClean="0"/>
              <a:t> 섹션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CombatGameMode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CombatGameState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활용 이벤트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4. </a:t>
            </a:r>
            <a:r>
              <a:rPr lang="ko-KR" altLang="en-US" baseline="0" dirty="0" smtClean="0"/>
              <a:t>아이템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장비 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제작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강화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계승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5. </a:t>
            </a:r>
            <a:r>
              <a:rPr lang="ko-KR" altLang="en-US" baseline="0" dirty="0" smtClean="0"/>
              <a:t>기타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UI</a:t>
            </a:r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UserWidget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상속으로 구성 및</a:t>
            </a:r>
            <a:r>
              <a:rPr lang="en-US" altLang="ko-KR" baseline="0" dirty="0" smtClean="0"/>
              <a:t> </a:t>
            </a:r>
            <a:r>
              <a:rPr lang="en-US" altLang="ko-KR" baseline="0" dirty="0" err="1" smtClean="0"/>
              <a:t>UWPopUp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클래스 사용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HUD </a:t>
            </a:r>
            <a:r>
              <a:rPr lang="ko-KR" altLang="en-US" baseline="0" dirty="0" smtClean="0"/>
              <a:t>용도와 </a:t>
            </a:r>
            <a:r>
              <a:rPr lang="en-US" altLang="ko-KR" baseline="0" dirty="0" err="1" smtClean="0"/>
              <a:t>PopUp</a:t>
            </a:r>
            <a:r>
              <a:rPr lang="ko-KR" altLang="en-US" baseline="0" dirty="0" smtClean="0"/>
              <a:t>용도 구분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PCG</a:t>
            </a:r>
          </a:p>
          <a:p>
            <a:pPr marL="0" indent="0">
              <a:buFontTx/>
              <a:buNone/>
            </a:pPr>
            <a:r>
              <a:rPr lang="en-US" altLang="ko-KR" baseline="0" dirty="0" smtClean="0"/>
              <a:t>- PCG </a:t>
            </a:r>
            <a:r>
              <a:rPr lang="ko-KR" altLang="en-US" baseline="0" dirty="0" smtClean="0"/>
              <a:t>활용한 레벨 오브젝트 배치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트러블슈팅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랜드스케이프</a:t>
            </a:r>
            <a:r>
              <a:rPr lang="ko-KR" altLang="en-US" baseline="0" dirty="0" smtClean="0"/>
              <a:t> 적용 후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액터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스폰</a:t>
            </a:r>
            <a:r>
              <a:rPr lang="ko-KR" altLang="en-US" baseline="0" dirty="0" smtClean="0"/>
              <a:t> 문제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레벨 시퀀스 사용 시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빌드</a:t>
            </a:r>
            <a:r>
              <a:rPr lang="ko-KR" altLang="en-US" baseline="0" dirty="0" smtClean="0"/>
              <a:t> 에러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보완점 및 </a:t>
            </a:r>
            <a:r>
              <a:rPr lang="ko-KR" altLang="en-US" baseline="0" dirty="0" err="1" smtClean="0"/>
              <a:t>반성점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GAS </a:t>
            </a:r>
            <a:r>
              <a:rPr lang="ko-KR" altLang="en-US" baseline="0" dirty="0" smtClean="0"/>
              <a:t>기능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데이터 구성 시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DataTable</a:t>
            </a:r>
            <a:r>
              <a:rPr lang="ko-KR" altLang="en-US" baseline="0" dirty="0" smtClean="0"/>
              <a:t>과 </a:t>
            </a:r>
            <a:r>
              <a:rPr lang="en-US" altLang="ko-KR" baseline="0" dirty="0" err="1" smtClean="0"/>
              <a:t>DataAsset</a:t>
            </a:r>
            <a:r>
              <a:rPr lang="ko-KR" altLang="en-US" baseline="0" dirty="0" smtClean="0"/>
              <a:t> 사용 구분</a:t>
            </a:r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72542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액션 </a:t>
            </a:r>
            <a:r>
              <a:rPr lang="en-US" altLang="ko-KR" dirty="0" smtClean="0"/>
              <a:t>RPG </a:t>
            </a:r>
            <a:r>
              <a:rPr lang="ko-KR" altLang="en-US" dirty="0" smtClean="0"/>
              <a:t>장르</a:t>
            </a:r>
            <a:endParaRPr lang="en-US" altLang="ko-KR" dirty="0" smtClean="0"/>
          </a:p>
          <a:p>
            <a:r>
              <a:rPr lang="ko-KR" altLang="en-US" dirty="0" smtClean="0"/>
              <a:t>먼 미래 모종의 이유로 기존</a:t>
            </a:r>
            <a:r>
              <a:rPr lang="ko-KR" altLang="en-US" baseline="0" dirty="0" smtClean="0"/>
              <a:t> 문명이 멸망한 포스트 </a:t>
            </a:r>
            <a:r>
              <a:rPr lang="ko-KR" altLang="en-US" baseline="0" dirty="0" err="1" smtClean="0"/>
              <a:t>아포칼립스</a:t>
            </a:r>
            <a:r>
              <a:rPr lang="ko-KR" altLang="en-US" baseline="0" dirty="0" smtClean="0"/>
              <a:t> 세계관에서</a:t>
            </a:r>
            <a:endParaRPr lang="en-US" altLang="ko-KR" baseline="0" dirty="0" smtClean="0"/>
          </a:p>
          <a:p>
            <a:r>
              <a:rPr lang="ko-KR" altLang="en-US" baseline="0" dirty="0" smtClean="0"/>
              <a:t>생존을 위해 폐허를 떠돌며 자원을 수집해나가는 액션 </a:t>
            </a:r>
            <a:r>
              <a:rPr lang="en-US" altLang="ko-KR" baseline="0" dirty="0" smtClean="0"/>
              <a:t>RPG </a:t>
            </a:r>
            <a:r>
              <a:rPr lang="ko-KR" altLang="en-US" baseline="0" dirty="0" smtClean="0"/>
              <a:t>게임입니다</a:t>
            </a:r>
            <a:r>
              <a:rPr lang="en-US" altLang="ko-KR" baseline="0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err="1" smtClean="0"/>
              <a:t>레퍼런스로</a:t>
            </a:r>
            <a:r>
              <a:rPr lang="ko-KR" altLang="en-US" dirty="0" smtClean="0"/>
              <a:t> 삼은 </a:t>
            </a:r>
            <a:r>
              <a:rPr lang="en-US" altLang="ko-KR" dirty="0" err="1" smtClean="0"/>
              <a:t>vindictus</a:t>
            </a:r>
            <a:r>
              <a:rPr lang="en-US" altLang="ko-KR" dirty="0" smtClean="0"/>
              <a:t> : defying fate</a:t>
            </a:r>
            <a:r>
              <a:rPr lang="ko-KR" altLang="en-US" baseline="0" dirty="0" smtClean="0"/>
              <a:t>가 표현한 </a:t>
            </a:r>
            <a:r>
              <a:rPr lang="ko-KR" altLang="en-US" baseline="0" dirty="0" err="1" smtClean="0"/>
              <a:t>콤보를</a:t>
            </a:r>
            <a:r>
              <a:rPr lang="ko-KR" altLang="en-US" baseline="0" dirty="0" smtClean="0"/>
              <a:t> 통한 스킬 </a:t>
            </a:r>
            <a:r>
              <a:rPr lang="ko-KR" altLang="en-US" baseline="0" dirty="0" err="1" smtClean="0"/>
              <a:t>조작감</a:t>
            </a:r>
            <a:endParaRPr lang="en-US" altLang="ko-KR" baseline="0" dirty="0" smtClean="0"/>
          </a:p>
          <a:p>
            <a:r>
              <a:rPr lang="ko-KR" altLang="en-US" baseline="0" dirty="0" smtClean="0"/>
              <a:t>광범위 공격을 이용한 </a:t>
            </a:r>
            <a:r>
              <a:rPr lang="ko-KR" altLang="en-US" baseline="0" dirty="0" err="1" smtClean="0"/>
              <a:t>핵앤슬래쉬</a:t>
            </a:r>
            <a:r>
              <a:rPr lang="ko-KR" altLang="en-US" baseline="0" dirty="0" smtClean="0"/>
              <a:t> 느낌의 표현</a:t>
            </a:r>
            <a:endParaRPr lang="en-US" altLang="ko-KR" baseline="0" dirty="0" smtClean="0"/>
          </a:p>
          <a:p>
            <a:r>
              <a:rPr lang="ko-KR" altLang="en-US" baseline="0" dirty="0" smtClean="0"/>
              <a:t>보스와 일대일 전투에선 보스의 패턴을 파훼하고 보스의 공격에 대응하는 기능 구현에 신경 씀</a:t>
            </a: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4304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09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382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3457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222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365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114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5117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 역할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AnimMontage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이용한 액션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UActionComboData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그래프 형태로 이어 연계 동작을 설정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공격 입력에 따라 설정한 그래프의 연결을 따라 액션을 수행하도록 작동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2873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진행 중 발생하는 이벤트에 따라 지정한 효과를 얻거나 대상에게 부여할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628650" lvl="1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4841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73245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56251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7982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2711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8535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활용하여 행동 양식을 구현했습니다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UBTService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UFindPlayerService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주변을 탐색합니다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 공격합니다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UBTTask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UAttackTask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수행하도록 구현했습니다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불가한 경우 일정 시간 동안 적에게 다가가지 못하는 상황일 때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3569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0" lvl="0" indent="0">
              <a:buFontTx/>
              <a:buNone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동일하게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탐색하고 플레이어 발견하면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거리에 따라 근접 공격이 가능한지 확인합니다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경우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 원거리 공격으로 견제합니다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개를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모이면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0" lvl="0" indent="0">
              <a:buFontTx/>
              <a:buNone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4611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5297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8486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정보 같이 진행에 필요한 주된 데이터는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이벤트를 구독해두고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카운트를 낮춥니다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카운트가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이되면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해당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구역 완료 이벤트를 발행합니다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완료처리하고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게임을 완료처리 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6367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원인 분석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반환으로 인한 에러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확인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작업 중인 레벨과의 차이점이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여부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 레벨에서 바닥은 넓은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큐브를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스케이프는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충돌 설정과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문제가 있었음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충돌하며 실패 처리되어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반환된 것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17161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74982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dirty="0" smtClean="0">
              <a:solidFill>
                <a:schemeClr val="bg1"/>
              </a:solidFill>
              <a:latin typeface="Noto Sans KR Light" panose="020B0200000000000000" pitchFamily="34" charset="-128"/>
              <a:ea typeface="Noto Sans KR Light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382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1668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852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03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64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411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35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5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46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669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876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8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401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6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27.png"/><Relationship Id="rId9" Type="http://schemas.openxmlformats.org/officeDocument/2006/relationships/image" Target="../media/image4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Relationship Id="rId9" Type="http://schemas.openxmlformats.org/officeDocument/2006/relationships/image" Target="../media/image7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17406" y="2736502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Unreal Engine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포트폴리오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74198" y="3105834"/>
            <a:ext cx="4843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smtClean="0">
                <a:solidFill>
                  <a:schemeClr val="bg1">
                    <a:lumMod val="95000"/>
                  </a:schemeClr>
                </a:solidFill>
                <a:latin typeface="Open Sans ExtraBold"/>
                <a:ea typeface="Noto Sans KR ExtraBold" panose="020B0200000000000000" pitchFamily="34" charset="-128"/>
              </a:rPr>
              <a:t>SCAVENGER'S EDGE</a:t>
            </a:r>
            <a:endParaRPr lang="ko-KR" altLang="en-US" sz="3600" b="1" dirty="0">
              <a:solidFill>
                <a:schemeClr val="bg1">
                  <a:lumMod val="95000"/>
                </a:schemeClr>
              </a:solidFill>
              <a:latin typeface="Open Sans ExtraBold"/>
              <a:ea typeface="Noto Sans KR ExtraBold" panose="020B0200000000000000" pitchFamily="34" charset="-12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17406" y="3779324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김정환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12010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55352" y="3198166"/>
            <a:ext cx="1531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24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  <a:cs typeface="Open Sans ExtraBold" pitchFamily="2" charset="0"/>
              </a:rPr>
              <a:t>목차</a:t>
            </a:r>
            <a:endParaRPr lang="ko-KR" altLang="en-US" sz="24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  <a:cs typeface="Open Sans ExtraBold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240384" y="2172757"/>
            <a:ext cx="248238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핵심기능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7350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40000" y="4665332"/>
            <a:ext cx="51559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solidFill>
                  <a:schemeClr val="bg1">
                    <a:lumMod val="95000"/>
                  </a:schemeClr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SCAVENGER'S 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250107"/>
            <a:ext cx="43476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RPG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작업기간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65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(26.01.14~26.03.20)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개발인원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툴 및 언어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Visual Studio C++, Unreal Engine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4665332"/>
            <a:ext cx="555600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먼 미래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모종의 이유로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문명이 멸망한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포스트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아포칼립스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세계관에서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위험한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폐허를 떠돌며 자원을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수집해나가는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빈딕투스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디파인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페이트를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프로젝트를 진행하며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통한 공격과 스킬 사용을 중점으로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그저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난타하는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상황에 따라 전략적으로 액션을 취할 수 있도록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액션을 통한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부여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시스템을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8" name="직선 연결선 1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540000" y="1032837"/>
            <a:ext cx="11112000" cy="330421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157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게임에서 전역적으로 사용하는 매니저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2003566"/>
            <a:ext cx="11112000" cy="3445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750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게임 진행에 관련된 클래스의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999" y="1777308"/>
            <a:ext cx="11112001" cy="3984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074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진행에 관련된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566" y="1870362"/>
            <a:ext cx="9610867" cy="405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3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조작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Enhanced Input System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이동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회피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단축키 입력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세분화하여 레벨의 성격에 따라 필요한 입력을 처리할 수 있도록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PlayerController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904" y="1282743"/>
            <a:ext cx="5235905" cy="228558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904" y="3683416"/>
            <a:ext cx="5235905" cy="1525242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5824" y="2351697"/>
            <a:ext cx="4238625" cy="1318390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6"/>
          <a:srcRect b="2230"/>
          <a:stretch/>
        </p:blipFill>
        <p:spPr>
          <a:xfrm>
            <a:off x="4198703" y="3805201"/>
            <a:ext cx="2166153" cy="2806913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7"/>
          <a:srcRect r="1025"/>
          <a:stretch/>
        </p:blipFill>
        <p:spPr>
          <a:xfrm>
            <a:off x="444752" y="3805201"/>
            <a:ext cx="3679573" cy="2057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23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80237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스탯과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효과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같은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가진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스택뿐만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아니라 장비와 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게이지과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같은 요소는 일종의 자원으로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요소들은 값 변동과 고갈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이벤트를 발행하여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UI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연동하는 등의 용도로 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중에서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스킬 게이지는 캐릭터의 액션과 함께 사용됩니다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중이지 않다면 천천히 회복되고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소모하여 작동합니다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중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되면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천천히 걸으며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회복되지 않는 페널티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게이지는 전투 중 획득 가능하고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부여된 효과가 스킬 게이지를 소모하여 발동합니다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315048"/>
            <a:ext cx="4535066" cy="1810784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2192626"/>
            <a:ext cx="1669262" cy="1907063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430" y="2192628"/>
            <a:ext cx="2427595" cy="167679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4166482"/>
            <a:ext cx="4201691" cy="2429579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7"/>
          <a:srcRect l="76583" t="15987" b="11662"/>
          <a:stretch/>
        </p:blipFill>
        <p:spPr>
          <a:xfrm>
            <a:off x="528459" y="3462206"/>
            <a:ext cx="2677196" cy="296563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8"/>
          <a:srcRect r="14780" b="1662"/>
          <a:stretch/>
        </p:blipFill>
        <p:spPr>
          <a:xfrm>
            <a:off x="3352488" y="3462206"/>
            <a:ext cx="2716763" cy="1852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393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적용하는 효과 클래스입니다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기능들이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공통점에 착안하여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모든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등록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관리하도록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접근하는 과정에서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대한 의존성이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발생하지 않도록 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새로운 효과를 추가하기 쉽도록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활용했습니다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상위 클래스의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구체적인 효과가 실행되도록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동안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 이벤트가 발생할 때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315047"/>
            <a:ext cx="3173406" cy="180679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2218519"/>
            <a:ext cx="4121842" cy="261065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4576" y="4033759"/>
            <a:ext cx="2304511" cy="261011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4925853"/>
            <a:ext cx="2229188" cy="172230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4275" y="3753643"/>
            <a:ext cx="5318148" cy="275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889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값을 설정해두기 위한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설정해둔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에셋이나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아이템에 유연하게 할당할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 무기의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컨셉에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맞게 동일한 유형의 효과를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모듈화하고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효과를 여러 액션에서 할당하여 재사용하는 방식으로 사용할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315047"/>
            <a:ext cx="4511210" cy="1820789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2270589"/>
            <a:ext cx="4222975" cy="217501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4580352"/>
            <a:ext cx="5093218" cy="164468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2062028"/>
            <a:ext cx="4603499" cy="163628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000" y="3791805"/>
            <a:ext cx="3152976" cy="2589945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92976" y="3791804"/>
            <a:ext cx="2412751" cy="2252312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723900" y="5422901"/>
            <a:ext cx="2969076" cy="95885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3692976" y="4089285"/>
            <a:ext cx="2412548" cy="55256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4608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32784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액션과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회피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등의 애니메이션을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처리하는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여러 동작을 하나의 액션으로 모듈화하여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액션과 이어진 액션을 연계하는 기능을 개발했습니다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실행에 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로직은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직접적인 참조를 피하기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APlayerCharacter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TryUseStamina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바인딩 해주었고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 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호출하여 사용 가능 여부를 확인하는 구조입니다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UPlayerActionComponent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63799" y="2896119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 유형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스매시 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각각의 공격 유형의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입력받아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액션들 간에 사전에 설정된 연결 정보를 기반으로 연속적으로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액션이 실행되고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연결된 공격유형에 해당하는 입력이 들어오면 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다음 공격이 실행되는 방식입니다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454275" y="2649898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5047"/>
            <a:ext cx="5184913" cy="279931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2" y="3297445"/>
            <a:ext cx="4516017" cy="327450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1925" y="3819449"/>
            <a:ext cx="2109574" cy="127022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6"/>
          <a:srcRect t="10379" b="6643"/>
          <a:stretch/>
        </p:blipFill>
        <p:spPr>
          <a:xfrm>
            <a:off x="3591925" y="5151226"/>
            <a:ext cx="1688484" cy="1420719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6846240" y="1771649"/>
            <a:ext cx="5005005" cy="1200151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6846239" y="4570965"/>
            <a:ext cx="3993211" cy="40108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7"/>
          <a:srcRect r="12551"/>
          <a:stretch/>
        </p:blipFill>
        <p:spPr>
          <a:xfrm>
            <a:off x="1085352" y="3819449"/>
            <a:ext cx="2241300" cy="2752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00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액션을 모듈화한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액션으로 실행할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UAnimMontage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몽타주에서 설정한 노티파이를 이용하여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세부적인 동작을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멤버변수 인덱스를 통해 원하는 시점에 수행하는 동작에 대한 데이터에 접근합니다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있기 때문에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클래스에 의존하지 않도록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구현하여 몽타주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재생 중 정확한 시점의 타격 및 세분화된 공격 동작을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933473"/>
            <a:ext cx="4177047" cy="154357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26" y="2564475"/>
            <a:ext cx="2675467" cy="159764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2566653"/>
            <a:ext cx="2419987" cy="943643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9277" y="4467225"/>
            <a:ext cx="8078516" cy="2138195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000" y="3038475"/>
            <a:ext cx="2976512" cy="3566945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647700" y="4343400"/>
            <a:ext cx="2868812" cy="91440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꺾인 연결선 18"/>
          <p:cNvCxnSpPr>
            <a:stCxn id="18" idx="3"/>
            <a:endCxn id="14" idx="1"/>
          </p:cNvCxnSpPr>
          <p:nvPr/>
        </p:nvCxnSpPr>
        <p:spPr>
          <a:xfrm>
            <a:off x="3516512" y="4800600"/>
            <a:ext cx="262765" cy="735723"/>
          </a:xfrm>
          <a:prstGeom prst="bentConnector3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3668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진행하는 과정에서 효과를 적용할 수 있도록 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원하는 시점에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UEffectData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할당하여 효과를 적용할 수 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액션에서 효과를 적용하는 시점을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4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가지로 설정해두고 각각의 시점에서 할당한 효과를 적용시킵니다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액션 실행 중 효과 발동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63799" y="4003279"/>
            <a:ext cx="565124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사용하는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연계에 대한 정보를 담은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연결은 인접리스트를 이용한 그래프로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3757058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UActionComboData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0762" y="591272"/>
            <a:ext cx="4666974" cy="2886788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286" y="3630813"/>
            <a:ext cx="4177258" cy="302887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99" y="1737137"/>
            <a:ext cx="2577303" cy="186603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6"/>
          <a:srcRect r="5586"/>
          <a:stretch/>
        </p:blipFill>
        <p:spPr>
          <a:xfrm>
            <a:off x="3117302" y="1734708"/>
            <a:ext cx="3045373" cy="1868463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7"/>
          <a:srcRect b="10529"/>
          <a:stretch/>
        </p:blipFill>
        <p:spPr>
          <a:xfrm>
            <a:off x="539999" y="4485288"/>
            <a:ext cx="2485123" cy="217268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7302" y="4485289"/>
            <a:ext cx="1783774" cy="2029812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93256" y="4485288"/>
            <a:ext cx="1740551" cy="2172687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3295120" y="4803497"/>
            <a:ext cx="1605956" cy="721003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662784" y="4792234"/>
            <a:ext cx="2362337" cy="398892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꺾인 연결선 20"/>
          <p:cNvCxnSpPr>
            <a:stCxn id="20" idx="3"/>
            <a:endCxn id="18" idx="1"/>
          </p:cNvCxnSpPr>
          <p:nvPr/>
        </p:nvCxnSpPr>
        <p:spPr>
          <a:xfrm>
            <a:off x="3025121" y="4991680"/>
            <a:ext cx="269999" cy="172319"/>
          </a:xfrm>
          <a:prstGeom prst="bentConnector3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5060552" y="4803497"/>
            <a:ext cx="1673253" cy="1854478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꺾인 연결선 24"/>
          <p:cNvCxnSpPr>
            <a:stCxn id="18" idx="3"/>
            <a:endCxn id="24" idx="1"/>
          </p:cNvCxnSpPr>
          <p:nvPr/>
        </p:nvCxnSpPr>
        <p:spPr>
          <a:xfrm>
            <a:off x="4901076" y="5163999"/>
            <a:ext cx="159476" cy="566737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144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1468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본래 가진 액션의 성능을 강화하거나 새로운 액션 연계를 얻는 방식으로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성장은 스킬 포인트는 스테이지를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레벨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업할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때 얻을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이렇게 얻은 스킬 포인트로 미리 설정된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스킬트리에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따라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원하는대로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육성할 수 있도록 개발했습니다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스킬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54275" y="2280566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설정값과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함께 스킬 성장으로 인해 얻은 값이나 추가적인 효과를 동적으로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44751" y="2034345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UActionInstance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4751" y="3080785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강화를 나타내는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해당 강화를 선택하면 지정된 액션에 강화 내용이 반영됩니다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이용하여 상위 클래스에서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내용을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식으로 구조화했습니다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연계를 해금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283456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USkillUpgrade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4231"/>
            <a:ext cx="4216071" cy="35652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937" y="3957826"/>
            <a:ext cx="3717499" cy="250158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001" y="4773310"/>
            <a:ext cx="5079750" cy="1723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241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선택할 수 있는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트리 형태로 설정한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강화할 액션의 내용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 소모량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 내용으로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연결될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설정하여 트리 형태 구조로 설정했습니다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USkillTreeData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7" y="315047"/>
            <a:ext cx="4161365" cy="615782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4"/>
          <a:srcRect l="20021" r="44487"/>
          <a:stretch/>
        </p:blipFill>
        <p:spPr>
          <a:xfrm>
            <a:off x="539999" y="1781254"/>
            <a:ext cx="2519856" cy="208245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999" y="3958118"/>
            <a:ext cx="2600125" cy="2652232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8000" y="2362640"/>
            <a:ext cx="2935652" cy="4247710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662785" y="2457450"/>
            <a:ext cx="956466" cy="94667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748510" y="5684519"/>
            <a:ext cx="1578787" cy="788349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꺾인 연결선 20"/>
          <p:cNvCxnSpPr>
            <a:stCxn id="16" idx="1"/>
            <a:endCxn id="17" idx="1"/>
          </p:cNvCxnSpPr>
          <p:nvPr/>
        </p:nvCxnSpPr>
        <p:spPr>
          <a:xfrm rot="10800000" flipH="1" flipV="1">
            <a:off x="662784" y="2930784"/>
            <a:ext cx="85725" cy="3147909"/>
          </a:xfrm>
          <a:prstGeom prst="bentConnector3">
            <a:avLst>
              <a:gd name="adj1" fmla="val -266667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095500" y="2501900"/>
            <a:ext cx="600075" cy="833099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3611139" y="4094462"/>
            <a:ext cx="1684762" cy="34418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꺾인 연결선 23"/>
          <p:cNvCxnSpPr>
            <a:stCxn id="22" idx="3"/>
            <a:endCxn id="23" idx="1"/>
          </p:cNvCxnSpPr>
          <p:nvPr/>
        </p:nvCxnSpPr>
        <p:spPr>
          <a:xfrm>
            <a:off x="2695575" y="2918450"/>
            <a:ext cx="915564" cy="1348106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/>
          <p:cNvSpPr/>
          <p:nvPr/>
        </p:nvSpPr>
        <p:spPr>
          <a:xfrm>
            <a:off x="3700931" y="5746196"/>
            <a:ext cx="1594970" cy="864153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/>
          <p:cNvSpPr/>
          <p:nvPr/>
        </p:nvSpPr>
        <p:spPr>
          <a:xfrm>
            <a:off x="2095500" y="3429407"/>
            <a:ext cx="819345" cy="3942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7" name="꺾인 연결선 26"/>
          <p:cNvCxnSpPr>
            <a:endCxn id="25" idx="1"/>
          </p:cNvCxnSpPr>
          <p:nvPr/>
        </p:nvCxnSpPr>
        <p:spPr>
          <a:xfrm rot="16200000" flipH="1">
            <a:off x="1941046" y="4418388"/>
            <a:ext cx="2354646" cy="1165124"/>
          </a:xfrm>
          <a:prstGeom prst="bentConnector2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5553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948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데이터 저장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레벨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보유한 재화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정보등을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저장합니다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실질적인 저장 동작은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USaveLoadManager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만들었고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ISaveLoadHandler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이용해서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외에도 다른 정보들을 저장하고 불러올 수 있도록 구조화했습니다</a:t>
            </a:r>
            <a:r>
              <a:rPr lang="en-US" altLang="ko-KR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44425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상속한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315047"/>
            <a:ext cx="4367440" cy="2446576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4689917"/>
            <a:ext cx="5252378" cy="1908090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2944033"/>
            <a:ext cx="4800600" cy="1563474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9853" y="5395026"/>
            <a:ext cx="2886075" cy="1202981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9853" y="4062723"/>
            <a:ext cx="2886075" cy="1183078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4062723"/>
            <a:ext cx="2876550" cy="1354897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000" y="2183570"/>
            <a:ext cx="5555999" cy="1687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664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 및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같이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ACharacter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IEffectable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IHitable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상속하고 구현하고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동일하게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받을 수 있도록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MonsterActionComponent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다르게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연계의 기능이 필요 없으므로 간략한 형태로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릁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입력된 공격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MonsterConfig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외형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데이터에셋으로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데이터테이블을 통해서 구성하도록 구조화했습니다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가지고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던전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구성할 수 있도록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공통사항과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88512" y="315046"/>
            <a:ext cx="3438137" cy="284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C:\Users\B-05\Downloads\carbon (1)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8513" y="3215268"/>
            <a:ext cx="2685662" cy="3047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Users\B-05\Downloads\carbon (2)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4025" y="3215268"/>
            <a:ext cx="2508041" cy="3414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3759100"/>
            <a:ext cx="5556000" cy="2758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909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1099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활용하여 행동 양식을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54275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99094" y="3005576"/>
            <a:ext cx="4759355" cy="3528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C:\Users\B-05\Downloads\carbon (7)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9095" y="302801"/>
            <a:ext cx="4915976" cy="2618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직사각형 11"/>
          <p:cNvSpPr/>
          <p:nvPr/>
        </p:nvSpPr>
        <p:spPr>
          <a:xfrm>
            <a:off x="451099" y="2059243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UBTService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UFindPlayerService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주변을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탐색하고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1813022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1099" y="2859462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 공격합니다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UBTTask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UAttackTask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수행하도록 구현했습니다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불가한 경우 일정 시간 동안 적에게 다가가지 못하는 상황일 때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454275" y="2613241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5"/>
          <a:srcRect r="10361"/>
          <a:stretch/>
        </p:blipFill>
        <p:spPr>
          <a:xfrm>
            <a:off x="451100" y="3721236"/>
            <a:ext cx="3158876" cy="2781067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6"/>
          <a:srcRect l="5189" r="9276"/>
          <a:stretch/>
        </p:blipFill>
        <p:spPr>
          <a:xfrm>
            <a:off x="3655290" y="3721236"/>
            <a:ext cx="2898490" cy="2031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747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63799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같이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활용했으며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행동에 관련하여 추가적인 작업을 수행했습니다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234126"/>
            <a:ext cx="552866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1099" y="2059243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동일하게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탐색하고 플레이어 발견하면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454275" y="1813022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1099" y="2859462"/>
            <a:ext cx="565124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거리에 따라 근접 공격이 가능한지 확인합니다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경우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 원거리 공격으로 견제합니다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개를 수행합니다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모이면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454275" y="2613241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3567348"/>
            <a:ext cx="4573730" cy="144963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851781"/>
            <a:ext cx="4781550" cy="241492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853" y="3648075"/>
            <a:ext cx="5622531" cy="2813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06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/>
        </p:nvSpPr>
        <p:spPr>
          <a:xfrm>
            <a:off x="454275" y="1106765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몽타주에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GimicNotify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설정하여 특정한 종류의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파훼하면 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일시적으로 그로기 상태가 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카운터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정면으로 이동하며 공격합니다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정면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기준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120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도 이내 방향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스매시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공격 시 파훼 가능합니다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일정 시간 동안 무력화 가능 상태가 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으로 만들지 못하면 일정 시간 후 매우 강력한 공격을 실행합니다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4751" y="860544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321428"/>
            <a:ext cx="3752063" cy="140344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1825017"/>
            <a:ext cx="3785240" cy="22035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4128731"/>
            <a:ext cx="4469825" cy="249114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6"/>
          <a:srcRect t="1719" r="9584" b="17304"/>
          <a:stretch/>
        </p:blipFill>
        <p:spPr>
          <a:xfrm>
            <a:off x="540000" y="2705099"/>
            <a:ext cx="5556000" cy="148284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7"/>
          <a:srcRect l="18814" t="75574" r="16258" b="694"/>
          <a:stretch/>
        </p:blipFill>
        <p:spPr>
          <a:xfrm>
            <a:off x="540000" y="5325686"/>
            <a:ext cx="4162424" cy="1031766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8"/>
          <a:srcRect r="25218"/>
          <a:stretch/>
        </p:blipFill>
        <p:spPr>
          <a:xfrm>
            <a:off x="539999" y="4308947"/>
            <a:ext cx="2042805" cy="895733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16624" y="4308947"/>
            <a:ext cx="2176300" cy="895733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1224760" y="5570220"/>
            <a:ext cx="2747165" cy="20193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4697768" y="5325686"/>
            <a:ext cx="148247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 활성화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892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0310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정보와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보상 정보를 데이터테이블로 만들어두었습니다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스테이지는 몇 개의 구역으로 구성되어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 종료됩니다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레벨 배치되어 있고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부여하여 각각의 구역을 표시합니다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들어서면 설정된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생성된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쓰러뜨리면 해당 구역이 완료됩니다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레벨에서 생성할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각 구역에서 새로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않고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게임시작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UObjectPoolManager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등록하여 재사용합니다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레벨과 스테이지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3023438"/>
            <a:ext cx="5049979" cy="346341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619" y="315047"/>
            <a:ext cx="1562100" cy="7659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618" y="1151668"/>
            <a:ext cx="4550607" cy="180108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3665560"/>
            <a:ext cx="2565149" cy="2709957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7"/>
          <a:srcRect l="45483"/>
          <a:stretch/>
        </p:blipFill>
        <p:spPr>
          <a:xfrm>
            <a:off x="3228518" y="3665560"/>
            <a:ext cx="2877006" cy="2574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232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0" y="4156316"/>
            <a:ext cx="3436393" cy="2523679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0" y="315047"/>
            <a:ext cx="3754578" cy="1222797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1" y="1586409"/>
            <a:ext cx="2800940" cy="1222228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0" y="2857202"/>
            <a:ext cx="3704280" cy="1250549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진행은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구독 모델을 확장한 이벤트 버스 방식으로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같은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게임 진행에 직접적 관여하지 않도록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통한 이벤트 기반으로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7" name="직사각형 16"/>
          <p:cNvSpPr/>
          <p:nvPr/>
        </p:nvSpPr>
        <p:spPr>
          <a:xfrm>
            <a:off x="444751" y="860544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이벤트 기반 진행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1908492"/>
            <a:ext cx="1662324" cy="1144130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444751" y="1666283"/>
            <a:ext cx="253657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진행에 발생하는 이벤트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종류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460380" y="3085534"/>
            <a:ext cx="5645144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정보 같이 진행에 필요한 주된 데이터는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이벤트를 구독해두고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카운트를 낮춥니다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카운트가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이되면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해당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구역 완료 이벤트를 발행합니다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완료처리하고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게임을 완료처리 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000" y="4373274"/>
            <a:ext cx="5194981" cy="2103726"/>
          </a:xfrm>
          <a:prstGeom prst="rect">
            <a:avLst/>
          </a:prstGeom>
        </p:spPr>
      </p:pic>
      <p:sp>
        <p:nvSpPr>
          <p:cNvPr id="20" name="직사각형 19"/>
          <p:cNvSpPr/>
          <p:nvPr/>
        </p:nvSpPr>
        <p:spPr>
          <a:xfrm>
            <a:off x="7301710" y="926444"/>
            <a:ext cx="3581508" cy="49793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7301710" y="2483497"/>
            <a:ext cx="1146965" cy="22288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>
            <a:off x="7301710" y="3683584"/>
            <a:ext cx="2627871" cy="342156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꺾인 연결선 24"/>
          <p:cNvCxnSpPr>
            <a:stCxn id="20" idx="3"/>
            <a:endCxn id="14" idx="3"/>
          </p:cNvCxnSpPr>
          <p:nvPr/>
        </p:nvCxnSpPr>
        <p:spPr>
          <a:xfrm flipH="1">
            <a:off x="9929581" y="1175413"/>
            <a:ext cx="953637" cy="1022110"/>
          </a:xfrm>
          <a:prstGeom prst="bentConnector3">
            <a:avLst>
              <a:gd name="adj1" fmla="val -2397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연결선 26"/>
          <p:cNvCxnSpPr>
            <a:stCxn id="21" idx="3"/>
            <a:endCxn id="15" idx="0"/>
          </p:cNvCxnSpPr>
          <p:nvPr/>
        </p:nvCxnSpPr>
        <p:spPr>
          <a:xfrm>
            <a:off x="8448675" y="2594940"/>
            <a:ext cx="532105" cy="262262"/>
          </a:xfrm>
          <a:prstGeom prst="bentConnector2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/>
          <p:cNvSpPr/>
          <p:nvPr/>
        </p:nvSpPr>
        <p:spPr>
          <a:xfrm>
            <a:off x="7317671" y="5855284"/>
            <a:ext cx="2627871" cy="720776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3" name="꺾인 연결선 52"/>
          <p:cNvCxnSpPr>
            <a:stCxn id="22" idx="3"/>
            <a:endCxn id="51" idx="3"/>
          </p:cNvCxnSpPr>
          <p:nvPr/>
        </p:nvCxnSpPr>
        <p:spPr>
          <a:xfrm>
            <a:off x="9929581" y="3854662"/>
            <a:ext cx="15961" cy="2361010"/>
          </a:xfrm>
          <a:prstGeom prst="bentConnector3">
            <a:avLst>
              <a:gd name="adj1" fmla="val 745217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6976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483334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27767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랜드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스케이프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적용 후 에러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2988450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480347"/>
            <a:ext cx="8755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기반 기능 구현 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가지고 레벨을 만들어 테스트하던 도중 에러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4" y="3234671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FActorSpawnParameters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SpawnCollisionHandlingOverride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설정을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AlwaysSpawn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변경 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해결했습니다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54274" y="1880455"/>
            <a:ext cx="483334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원인 분석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4" y="2126676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최초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반환되어 에러가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확인했고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 중인 레벨과의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차이점은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유무임을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높이와 충돌 문제가 있음을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기존에 쓰던 평평한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메시에서와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차이와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충돌로 인해서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 처리되어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반환되었습니다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5206" y="3727114"/>
            <a:ext cx="4803319" cy="261734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274" y="3727113"/>
            <a:ext cx="4715416" cy="205647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274" y="5926358"/>
            <a:ext cx="5632201" cy="427271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979179" y="4476750"/>
            <a:ext cx="4088121" cy="58102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379104" y="5849480"/>
            <a:ext cx="5707371" cy="58102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꺾인 연결선 17"/>
          <p:cNvCxnSpPr>
            <a:stCxn id="15" idx="3"/>
            <a:endCxn id="16" idx="0"/>
          </p:cNvCxnSpPr>
          <p:nvPr/>
        </p:nvCxnSpPr>
        <p:spPr>
          <a:xfrm flipH="1">
            <a:off x="3232790" y="4767263"/>
            <a:ext cx="1834510" cy="1082217"/>
          </a:xfrm>
          <a:prstGeom prst="bentConnector4">
            <a:avLst>
              <a:gd name="adj1" fmla="val -12461"/>
              <a:gd name="adj2" fmla="val 6342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/>
          <p:cNvSpPr/>
          <p:nvPr/>
        </p:nvSpPr>
        <p:spPr>
          <a:xfrm>
            <a:off x="6781800" y="4464839"/>
            <a:ext cx="3838576" cy="43182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4360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5" y="2342121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등장 연출을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이용한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컷씬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작업 후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에디터를 통한 테스트 이후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테스트를 진행하다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 로그를 살펴보니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DataManager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초기화 중 스테이지 데이터 테이블을 참조하는 과정에서 문제가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데이터테이블에서 레벨 시퀀스를 참조하고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시퀀스에서 사용하는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아직 등록되지 않아 문제가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54274" y="2588342"/>
            <a:ext cx="875503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등록되지 않았다는 로그를 보고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발생했다고 생각했습니다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세팅에서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패키징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반드시 포함하도록 설정하고 다시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그럼에도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동일한 에러 로그가 출력됐습니다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아니라 데이터테이블에서 레벨 시퀀스를 직접 참조하기 때문에 발생한 것이라 판단했고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검증을 위해서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데이터테이블에서 레벨 시퀀스를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아닌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TSoftObjectPtr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변경했습니다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-&gt;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소프트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 후 다시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시도에서 성공한 것을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사용하는 부분에서 레벨 시퀀스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비동기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로드하도록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 </a:t>
            </a:r>
            <a:r>
              <a:rPr lang="ko-KR" altLang="en-US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후 사용하는 것으로 문제를 해결했습니다</a:t>
            </a:r>
            <a:r>
              <a:rPr lang="en-US" altLang="ko-KR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00439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 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42338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Gameplay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Ability System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 미사용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92122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프로젝트의 액션이나 효과 적용 기능이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Unreal Engine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자체적으로 제공하는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Gameplay Ability System(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GAS)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구조적으로 유사했다는 것을 나중에 알게 됐습니다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엔진 단에서 이미 지원하는 기능이 있다는 것을 모른 상태로 개발을 진행한 것이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엔진을 사용하는 장점을 져버렸다는 점이 아쉬웠습니다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 점을 반성하고자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대해 학습하고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적용한다면 어떤 식으로 작업할지 정리해보았습니다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54275" y="2120828"/>
            <a:ext cx="334097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UStatComponent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대응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UAbilitySystemComponent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54275" y="2367049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클래스들의 대응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54275" y="3105712"/>
            <a:ext cx="207941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대응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UGameplayEffect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3351933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클래스들의 대응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3598154"/>
            <a:ext cx="335220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대응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UGameplayAbility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UAbilityTask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, Tag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4275" y="3844375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클래스들의 대응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2613270"/>
            <a:ext cx="206498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Stat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대응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FGameplayAttribute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5" y="2859491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클래스들의 대응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96096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5325</TotalTime>
  <Words>2831</Words>
  <Application>Microsoft Office PowerPoint</Application>
  <PresentationFormat>와이드스크린</PresentationFormat>
  <Paragraphs>635</Paragraphs>
  <Slides>25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3" baseType="lpstr">
      <vt:lpstr>Noto Sans KR DemiLight</vt:lpstr>
      <vt:lpstr>Noto Sans KR ExtraBold</vt:lpstr>
      <vt:lpstr>Noto Sans KR Light</vt:lpstr>
      <vt:lpstr>Noto Sans KR Medium</vt:lpstr>
      <vt:lpstr>맑은 고딕</vt:lpstr>
      <vt:lpstr>Arial</vt:lpstr>
      <vt:lpstr>Open Sans ExtraBold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2405</cp:revision>
  <dcterms:created xsi:type="dcterms:W3CDTF">2025-12-03T02:34:26Z</dcterms:created>
  <dcterms:modified xsi:type="dcterms:W3CDTF">2026-03-24T13:58:51Z</dcterms:modified>
</cp:coreProperties>
</file>